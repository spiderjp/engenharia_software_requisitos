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70" r:id="rId1"/>
  </p:sldMasterIdLst>
  <p:sldIdLst>
    <p:sldId id="256" r:id="rId2"/>
    <p:sldId id="257" r:id="rId3"/>
    <p:sldId id="259" r:id="rId4"/>
    <p:sldId id="260" r:id="rId5"/>
    <p:sldId id="263" r:id="rId6"/>
    <p:sldId id="266" r:id="rId7"/>
    <p:sldId id="267" r:id="rId8"/>
    <p:sldId id="278" r:id="rId9"/>
    <p:sldId id="281" r:id="rId10"/>
    <p:sldId id="282" r:id="rId11"/>
    <p:sldId id="295" r:id="rId12"/>
    <p:sldId id="297" r:id="rId13"/>
    <p:sldId id="299" r:id="rId14"/>
    <p:sldId id="300" r:id="rId15"/>
    <p:sldId id="296" r:id="rId16"/>
    <p:sldId id="301" r:id="rId17"/>
    <p:sldId id="268" r:id="rId18"/>
    <p:sldId id="292" r:id="rId19"/>
    <p:sldId id="304" r:id="rId20"/>
    <p:sldId id="293" r:id="rId21"/>
    <p:sldId id="305" r:id="rId22"/>
    <p:sldId id="310" r:id="rId23"/>
    <p:sldId id="286" r:id="rId24"/>
    <p:sldId id="309" r:id="rId25"/>
    <p:sldId id="287" r:id="rId26"/>
    <p:sldId id="294" r:id="rId27"/>
    <p:sldId id="306" r:id="rId28"/>
    <p:sldId id="307" r:id="rId29"/>
    <p:sldId id="308" r:id="rId30"/>
    <p:sldId id="265" r:id="rId31"/>
    <p:sldId id="311" r:id="rId32"/>
    <p:sldId id="285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CD32C8-F5A6-409D-824E-14F76DF92D3D}" v="1432" dt="2020-05-08T23:42:43.328"/>
    <p1510:client id="{10A5EFE8-F7FB-44F9-8466-712F4B29DE8B}" v="352" dt="2020-05-14T19:02:36.515"/>
    <p1510:client id="{1421F376-0335-4FBA-9E87-84CFEE671C37}" v="103" dt="2020-05-07T02:04:33.599"/>
    <p1510:client id="{2591ABB4-1BB9-461D-8B8E-3F5259DFC670}" v="4" dt="2020-05-07T22:17:53.149"/>
    <p1510:client id="{3938DFD8-EDE5-4D75-B592-F6E1962A87D5}" v="1591" dt="2020-05-09T16:26:29.564"/>
    <p1510:client id="{3E266175-4B8A-49DA-9709-A768F32BB54E}" v="1986" dt="2020-05-08T14:07:08.634"/>
    <p1510:client id="{3F44C248-DCBD-496D-B3A4-C9CA33100096}" v="335" dt="2020-05-15T20:57:25.191"/>
    <p1510:client id="{53A09805-146C-4159-826D-252427067AFD}" v="135" dt="2020-05-07T18:21:33.382"/>
    <p1510:client id="{695CA298-3997-4785-B4FB-FB0253AE72C5}" v="5831" dt="2020-05-07T01:39:33.277"/>
    <p1510:client id="{76433648-1B43-4454-A94C-1EAA3EA7C2FA}" v="1" dt="2020-05-09T16:52:16.445"/>
    <p1510:client id="{85BEF8CF-7663-47B6-A832-7BBD17A4BE72}" v="396" dt="2020-05-19T23:42:13.929"/>
    <p1510:client id="{97B7D6AE-C714-4F4B-8366-3E8C14BC5279}" v="16" dt="2020-05-07T22:29:51.387"/>
    <p1510:client id="{B87D4AF4-641B-44F2-A7C4-DF143FBE74EF}" v="79" dt="2020-05-22T11:16:18.031"/>
    <p1510:client id="{F1665B0D-C117-4353-A5E3-27451E3577B4}" v="3514" dt="2020-05-07T22:15:28.756"/>
    <p1510:client id="{F3DCD2A9-FF51-4D62-B58E-E833B4C8D00B}" v="1407" dt="2020-05-07T23:47:27.2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D2DCB6-1508-414F-8953-00FC18C48527}" type="doc">
      <dgm:prSet loTypeId="urn:microsoft.com/office/officeart/2005/8/layout/process4" loCatId="process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8A47DEEF-27BA-4987-B127-786ABEDFA6A5}">
      <dgm:prSet/>
      <dgm:spPr/>
      <dgm:t>
        <a:bodyPr/>
        <a:lstStyle/>
        <a:p>
          <a:pPr rtl="0"/>
          <a:r>
            <a:rPr lang="pt-BR">
              <a:latin typeface="Trebuchet MS" panose="020B0603020202020204"/>
            </a:rPr>
            <a:t>1. O</a:t>
          </a:r>
          <a:r>
            <a:rPr lang="pt-BR"/>
            <a:t> sistema </a:t>
          </a:r>
          <a:r>
            <a:rPr lang="pt-BR">
              <a:latin typeface="Trebuchet MS" panose="020B0603020202020204"/>
            </a:rPr>
            <a:t>conferirá</a:t>
          </a:r>
          <a:r>
            <a:rPr lang="pt-BR"/>
            <a:t> o perfil do passageiro</a:t>
          </a:r>
          <a:r>
            <a:rPr lang="pt-BR">
              <a:latin typeface="Trebuchet MS" panose="020B0603020202020204"/>
            </a:rPr>
            <a:t> (existente, existente e 'logado' ou necessário cadastrar);</a:t>
          </a:r>
          <a:endParaRPr lang="en-US"/>
        </a:p>
      </dgm:t>
    </dgm:pt>
    <dgm:pt modelId="{6FCC185B-9CB6-45C8-88F3-A8F79B05A2D2}" type="parTrans" cxnId="{32180629-D1E1-47C5-A3A9-7ED91DA10B3C}">
      <dgm:prSet/>
      <dgm:spPr/>
      <dgm:t>
        <a:bodyPr/>
        <a:lstStyle/>
        <a:p>
          <a:endParaRPr lang="en-US"/>
        </a:p>
      </dgm:t>
    </dgm:pt>
    <dgm:pt modelId="{2627D9FD-1287-4139-9BAA-5885129B8622}" type="sibTrans" cxnId="{32180629-D1E1-47C5-A3A9-7ED91DA10B3C}">
      <dgm:prSet/>
      <dgm:spPr/>
      <dgm:t>
        <a:bodyPr/>
        <a:lstStyle/>
        <a:p>
          <a:endParaRPr lang="en-US"/>
        </a:p>
      </dgm:t>
    </dgm:pt>
    <dgm:pt modelId="{4508EFA6-273D-4306-AE5B-2C2F9B2CA7A6}">
      <dgm:prSet/>
      <dgm:spPr/>
      <dgm:t>
        <a:bodyPr/>
        <a:lstStyle/>
        <a:p>
          <a:pPr rtl="0"/>
          <a:r>
            <a:rPr lang="pt-BR">
              <a:latin typeface="Trebuchet MS" panose="020B0603020202020204"/>
            </a:rPr>
            <a:t> 2. Caso</a:t>
          </a:r>
          <a:r>
            <a:rPr lang="pt-BR"/>
            <a:t> não </a:t>
          </a:r>
          <a:r>
            <a:rPr lang="pt-BR">
              <a:latin typeface="Trebuchet MS" panose="020B0603020202020204"/>
            </a:rPr>
            <a:t>seja</a:t>
          </a:r>
          <a:r>
            <a:rPr lang="pt-BR"/>
            <a:t> Cliente</a:t>
          </a:r>
          <a:r>
            <a:rPr lang="pt-BR">
              <a:latin typeface="Trebuchet MS" panose="020B0603020202020204"/>
            </a:rPr>
            <a:t>,</a:t>
          </a:r>
          <a:r>
            <a:rPr lang="pt-BR"/>
            <a:t> o sistema levará</a:t>
          </a:r>
          <a:r>
            <a:rPr lang="pt-BR">
              <a:latin typeface="Trebuchet MS" panose="020B0603020202020204"/>
            </a:rPr>
            <a:t> </a:t>
          </a:r>
          <a:r>
            <a:rPr lang="pt-BR"/>
            <a:t> até </a:t>
          </a:r>
          <a:r>
            <a:rPr lang="pt-BR">
              <a:latin typeface="Trebuchet MS" panose="020B0603020202020204"/>
            </a:rPr>
            <a:t>a página de ínicio onde terá a opção de 'Logar' e 'Cadastrar';</a:t>
          </a:r>
          <a:endParaRPr lang="en-US"/>
        </a:p>
      </dgm:t>
    </dgm:pt>
    <dgm:pt modelId="{92F32784-9BC5-434A-8D8B-CC9115D17E79}" type="parTrans" cxnId="{53293238-3263-415B-A93E-8C001D90FD6B}">
      <dgm:prSet/>
      <dgm:spPr/>
      <dgm:t>
        <a:bodyPr/>
        <a:lstStyle/>
        <a:p>
          <a:endParaRPr lang="en-US"/>
        </a:p>
      </dgm:t>
    </dgm:pt>
    <dgm:pt modelId="{70C078E1-D445-407C-B971-D064F72DFE3A}" type="sibTrans" cxnId="{53293238-3263-415B-A93E-8C001D90FD6B}">
      <dgm:prSet/>
      <dgm:spPr/>
      <dgm:t>
        <a:bodyPr/>
        <a:lstStyle/>
        <a:p>
          <a:endParaRPr lang="en-US"/>
        </a:p>
      </dgm:t>
    </dgm:pt>
    <dgm:pt modelId="{BF193759-FA16-4C21-8059-9B8C0C114E5E}">
      <dgm:prSet phldr="0"/>
      <dgm:spPr/>
      <dgm:t>
        <a:bodyPr/>
        <a:lstStyle/>
        <a:p>
          <a:pPr rtl="0"/>
          <a:r>
            <a:rPr lang="pt-BR">
              <a:latin typeface="Trebuchet MS" panose="020B0603020202020204"/>
            </a:rPr>
            <a:t>5. Caso seja Cliente e estiver 'Logado', o sistema levará até a área principal do E-commerce;</a:t>
          </a:r>
          <a:endParaRPr lang="pt-BR"/>
        </a:p>
      </dgm:t>
    </dgm:pt>
    <dgm:pt modelId="{94CEBD00-1D03-4A09-91E1-F0D292805C0A}" type="parTrans" cxnId="{8330ED6E-02CB-4CE1-9A6D-10C5F2F12B05}">
      <dgm:prSet/>
      <dgm:spPr/>
      <dgm:t>
        <a:bodyPr/>
        <a:lstStyle/>
        <a:p>
          <a:endParaRPr lang="en-US"/>
        </a:p>
      </dgm:t>
    </dgm:pt>
    <dgm:pt modelId="{6383CAB5-C2DA-4F53-9FBC-3775CBCF9CC7}" type="sibTrans" cxnId="{8330ED6E-02CB-4CE1-9A6D-10C5F2F12B05}">
      <dgm:prSet/>
      <dgm:spPr/>
      <dgm:t>
        <a:bodyPr/>
        <a:lstStyle/>
        <a:p>
          <a:endParaRPr lang="en-US"/>
        </a:p>
      </dgm:t>
    </dgm:pt>
    <dgm:pt modelId="{43EE0BCD-D3C1-42CF-8C89-44923A6544FE}">
      <dgm:prSet phldr="0"/>
      <dgm:spPr/>
      <dgm:t>
        <a:bodyPr/>
        <a:lstStyle/>
        <a:p>
          <a:pPr rtl="0"/>
          <a:r>
            <a:rPr lang="pt-BR">
              <a:latin typeface="Trebuchet MS" panose="020B0603020202020204"/>
            </a:rPr>
            <a:t>4. Caso seja Cliente e não ter feito 'Login', o sistema levará até a página de início, e esse clicará em 'Logar';</a:t>
          </a:r>
        </a:p>
      </dgm:t>
    </dgm:pt>
    <dgm:pt modelId="{A6A6D6A5-EA6E-4846-BD7A-06B8DE5330ED}" type="parTrans" cxnId="{2CCBF777-F83B-498A-B270-520792B40C3B}">
      <dgm:prSet/>
      <dgm:spPr/>
    </dgm:pt>
    <dgm:pt modelId="{4032230F-7DA0-458C-8A52-0D48D40BA86B}" type="sibTrans" cxnId="{2CCBF777-F83B-498A-B270-520792B40C3B}">
      <dgm:prSet/>
      <dgm:spPr/>
    </dgm:pt>
    <dgm:pt modelId="{A2136264-BC92-48F0-AE5B-50993530BC52}">
      <dgm:prSet phldr="0"/>
      <dgm:spPr/>
      <dgm:t>
        <a:bodyPr/>
        <a:lstStyle/>
        <a:p>
          <a:pPr rtl="0"/>
          <a:r>
            <a:rPr lang="pt-BR">
              <a:latin typeface="Trebuchet MS" panose="020B0603020202020204"/>
            </a:rPr>
            <a:t>3. Após</a:t>
          </a:r>
          <a:r>
            <a:rPr lang="pt-BR"/>
            <a:t> Cadastrar ou 'Logar' encaminhará para o área principal do E-commerce;</a:t>
          </a:r>
        </a:p>
      </dgm:t>
    </dgm:pt>
    <dgm:pt modelId="{60DA19E9-B46B-40A4-B648-050E1DF44496}" type="parTrans" cxnId="{680055E2-CF45-43BE-97F6-FD8BE85D7BA9}">
      <dgm:prSet/>
      <dgm:spPr/>
    </dgm:pt>
    <dgm:pt modelId="{19BBF886-4051-429D-9A9E-4D78C9D93810}" type="sibTrans" cxnId="{680055E2-CF45-43BE-97F6-FD8BE85D7BA9}">
      <dgm:prSet/>
      <dgm:spPr/>
    </dgm:pt>
    <dgm:pt modelId="{CA063433-F8C6-4389-BA7D-682C3E5BED29}" type="pres">
      <dgm:prSet presAssocID="{1CD2DCB6-1508-414F-8953-00FC18C48527}" presName="Name0" presStyleCnt="0">
        <dgm:presLayoutVars>
          <dgm:dir/>
          <dgm:animLvl val="lvl"/>
          <dgm:resizeHandles val="exact"/>
        </dgm:presLayoutVars>
      </dgm:prSet>
      <dgm:spPr/>
    </dgm:pt>
    <dgm:pt modelId="{639EDFBC-89C5-4275-AF83-EE4C7294A57C}" type="pres">
      <dgm:prSet presAssocID="{BF193759-FA16-4C21-8059-9B8C0C114E5E}" presName="boxAndChildren" presStyleCnt="0"/>
      <dgm:spPr/>
    </dgm:pt>
    <dgm:pt modelId="{97483414-4250-40F4-BBBE-D50860E91366}" type="pres">
      <dgm:prSet presAssocID="{BF193759-FA16-4C21-8059-9B8C0C114E5E}" presName="parentTextBox" presStyleLbl="node1" presStyleIdx="0" presStyleCnt="5"/>
      <dgm:spPr/>
    </dgm:pt>
    <dgm:pt modelId="{F868D6E7-ED76-46A3-B76E-A6976D282179}" type="pres">
      <dgm:prSet presAssocID="{4032230F-7DA0-458C-8A52-0D48D40BA86B}" presName="sp" presStyleCnt="0"/>
      <dgm:spPr/>
    </dgm:pt>
    <dgm:pt modelId="{B27D48B7-0BE6-47FB-8CBE-7AA7AEE6DDCF}" type="pres">
      <dgm:prSet presAssocID="{43EE0BCD-D3C1-42CF-8C89-44923A6544FE}" presName="arrowAndChildren" presStyleCnt="0"/>
      <dgm:spPr/>
    </dgm:pt>
    <dgm:pt modelId="{FAEED1D5-C5EA-4A0D-ADB5-9BECE0DFFC3C}" type="pres">
      <dgm:prSet presAssocID="{43EE0BCD-D3C1-42CF-8C89-44923A6544FE}" presName="parentTextArrow" presStyleLbl="node1" presStyleIdx="1" presStyleCnt="5"/>
      <dgm:spPr/>
    </dgm:pt>
    <dgm:pt modelId="{919200FD-7DCB-412E-AC4D-06764EE1ADA4}" type="pres">
      <dgm:prSet presAssocID="{19BBF886-4051-429D-9A9E-4D78C9D93810}" presName="sp" presStyleCnt="0"/>
      <dgm:spPr/>
    </dgm:pt>
    <dgm:pt modelId="{6E6AE0E3-8C04-4042-9B6E-46FB03E5D2F3}" type="pres">
      <dgm:prSet presAssocID="{A2136264-BC92-48F0-AE5B-50993530BC52}" presName="arrowAndChildren" presStyleCnt="0"/>
      <dgm:spPr/>
    </dgm:pt>
    <dgm:pt modelId="{CC4D9CE7-D29B-4554-9D03-2C669DDB9354}" type="pres">
      <dgm:prSet presAssocID="{A2136264-BC92-48F0-AE5B-50993530BC52}" presName="parentTextArrow" presStyleLbl="node1" presStyleIdx="2" presStyleCnt="5"/>
      <dgm:spPr/>
    </dgm:pt>
    <dgm:pt modelId="{74A321D4-49B2-4C6D-A93E-DA746849CC6C}" type="pres">
      <dgm:prSet presAssocID="{70C078E1-D445-407C-B971-D064F72DFE3A}" presName="sp" presStyleCnt="0"/>
      <dgm:spPr/>
    </dgm:pt>
    <dgm:pt modelId="{EE227434-98D2-4EBF-905F-BDD3ADB87025}" type="pres">
      <dgm:prSet presAssocID="{4508EFA6-273D-4306-AE5B-2C2F9B2CA7A6}" presName="arrowAndChildren" presStyleCnt="0"/>
      <dgm:spPr/>
    </dgm:pt>
    <dgm:pt modelId="{E2318F97-C85F-4506-8303-2513602E4631}" type="pres">
      <dgm:prSet presAssocID="{4508EFA6-273D-4306-AE5B-2C2F9B2CA7A6}" presName="parentTextArrow" presStyleLbl="node1" presStyleIdx="3" presStyleCnt="5"/>
      <dgm:spPr/>
    </dgm:pt>
    <dgm:pt modelId="{195B5015-F78C-4230-9EE1-881CA548F85B}" type="pres">
      <dgm:prSet presAssocID="{2627D9FD-1287-4139-9BAA-5885129B8622}" presName="sp" presStyleCnt="0"/>
      <dgm:spPr/>
    </dgm:pt>
    <dgm:pt modelId="{9B7E717B-6AC5-4F85-9657-BD4DBF3A6713}" type="pres">
      <dgm:prSet presAssocID="{8A47DEEF-27BA-4987-B127-786ABEDFA6A5}" presName="arrowAndChildren" presStyleCnt="0"/>
      <dgm:spPr/>
    </dgm:pt>
    <dgm:pt modelId="{5E2E07EA-4573-49E1-92AF-3A66ADD096EF}" type="pres">
      <dgm:prSet presAssocID="{8A47DEEF-27BA-4987-B127-786ABEDFA6A5}" presName="parentTextArrow" presStyleLbl="node1" presStyleIdx="4" presStyleCnt="5"/>
      <dgm:spPr/>
    </dgm:pt>
  </dgm:ptLst>
  <dgm:cxnLst>
    <dgm:cxn modelId="{83EEC41C-0B0D-4104-9469-6AEE1F8FE2F0}" type="presOf" srcId="{43EE0BCD-D3C1-42CF-8C89-44923A6544FE}" destId="{FAEED1D5-C5EA-4A0D-ADB5-9BECE0DFFC3C}" srcOrd="0" destOrd="0" presId="urn:microsoft.com/office/officeart/2005/8/layout/process4"/>
    <dgm:cxn modelId="{32180629-D1E1-47C5-A3A9-7ED91DA10B3C}" srcId="{1CD2DCB6-1508-414F-8953-00FC18C48527}" destId="{8A47DEEF-27BA-4987-B127-786ABEDFA6A5}" srcOrd="0" destOrd="0" parTransId="{6FCC185B-9CB6-45C8-88F3-A8F79B05A2D2}" sibTransId="{2627D9FD-1287-4139-9BAA-5885129B8622}"/>
    <dgm:cxn modelId="{FA3EBA32-3F9D-4A2E-AD51-EC5BFE4E4F1B}" type="presOf" srcId="{BF193759-FA16-4C21-8059-9B8C0C114E5E}" destId="{97483414-4250-40F4-BBBE-D50860E91366}" srcOrd="0" destOrd="0" presId="urn:microsoft.com/office/officeart/2005/8/layout/process4"/>
    <dgm:cxn modelId="{53293238-3263-415B-A93E-8C001D90FD6B}" srcId="{1CD2DCB6-1508-414F-8953-00FC18C48527}" destId="{4508EFA6-273D-4306-AE5B-2C2F9B2CA7A6}" srcOrd="1" destOrd="0" parTransId="{92F32784-9BC5-434A-8D8B-CC9115D17E79}" sibTransId="{70C078E1-D445-407C-B971-D064F72DFE3A}"/>
    <dgm:cxn modelId="{0A121C46-637E-481C-897E-C65517E58C93}" type="presOf" srcId="{8A47DEEF-27BA-4987-B127-786ABEDFA6A5}" destId="{5E2E07EA-4573-49E1-92AF-3A66ADD096EF}" srcOrd="0" destOrd="0" presId="urn:microsoft.com/office/officeart/2005/8/layout/process4"/>
    <dgm:cxn modelId="{8330ED6E-02CB-4CE1-9A6D-10C5F2F12B05}" srcId="{1CD2DCB6-1508-414F-8953-00FC18C48527}" destId="{BF193759-FA16-4C21-8059-9B8C0C114E5E}" srcOrd="4" destOrd="0" parTransId="{94CEBD00-1D03-4A09-91E1-F0D292805C0A}" sibTransId="{6383CAB5-C2DA-4F53-9FBC-3775CBCF9CC7}"/>
    <dgm:cxn modelId="{2CCBF777-F83B-498A-B270-520792B40C3B}" srcId="{1CD2DCB6-1508-414F-8953-00FC18C48527}" destId="{43EE0BCD-D3C1-42CF-8C89-44923A6544FE}" srcOrd="3" destOrd="0" parTransId="{A6A6D6A5-EA6E-4846-BD7A-06B8DE5330ED}" sibTransId="{4032230F-7DA0-458C-8A52-0D48D40BA86B}"/>
    <dgm:cxn modelId="{6303C18A-6460-41E2-B00B-D46935B08F3F}" type="presOf" srcId="{4508EFA6-273D-4306-AE5B-2C2F9B2CA7A6}" destId="{E2318F97-C85F-4506-8303-2513602E4631}" srcOrd="0" destOrd="0" presId="urn:microsoft.com/office/officeart/2005/8/layout/process4"/>
    <dgm:cxn modelId="{CCEC6890-D73D-4DCB-A330-CFE6F50955FA}" type="presOf" srcId="{1CD2DCB6-1508-414F-8953-00FC18C48527}" destId="{CA063433-F8C6-4389-BA7D-682C3E5BED29}" srcOrd="0" destOrd="0" presId="urn:microsoft.com/office/officeart/2005/8/layout/process4"/>
    <dgm:cxn modelId="{40A371C5-EF83-4C00-94A2-75AB38A90903}" type="presOf" srcId="{A2136264-BC92-48F0-AE5B-50993530BC52}" destId="{CC4D9CE7-D29B-4554-9D03-2C669DDB9354}" srcOrd="0" destOrd="0" presId="urn:microsoft.com/office/officeart/2005/8/layout/process4"/>
    <dgm:cxn modelId="{680055E2-CF45-43BE-97F6-FD8BE85D7BA9}" srcId="{1CD2DCB6-1508-414F-8953-00FC18C48527}" destId="{A2136264-BC92-48F0-AE5B-50993530BC52}" srcOrd="2" destOrd="0" parTransId="{60DA19E9-B46B-40A4-B648-050E1DF44496}" sibTransId="{19BBF886-4051-429D-9A9E-4D78C9D93810}"/>
    <dgm:cxn modelId="{34C2B056-243F-4B42-8415-D41CDA2DCB82}" type="presParOf" srcId="{CA063433-F8C6-4389-BA7D-682C3E5BED29}" destId="{639EDFBC-89C5-4275-AF83-EE4C7294A57C}" srcOrd="0" destOrd="0" presId="urn:microsoft.com/office/officeart/2005/8/layout/process4"/>
    <dgm:cxn modelId="{5FE2EEA6-2562-4A45-917D-A9E9DAD044E9}" type="presParOf" srcId="{639EDFBC-89C5-4275-AF83-EE4C7294A57C}" destId="{97483414-4250-40F4-BBBE-D50860E91366}" srcOrd="0" destOrd="0" presId="urn:microsoft.com/office/officeart/2005/8/layout/process4"/>
    <dgm:cxn modelId="{6F2C96E6-EF6D-41DE-8072-2DE1BB0569BA}" type="presParOf" srcId="{CA063433-F8C6-4389-BA7D-682C3E5BED29}" destId="{F868D6E7-ED76-46A3-B76E-A6976D282179}" srcOrd="1" destOrd="0" presId="urn:microsoft.com/office/officeart/2005/8/layout/process4"/>
    <dgm:cxn modelId="{9340C15B-FE10-4279-ACD2-567C5BC44B97}" type="presParOf" srcId="{CA063433-F8C6-4389-BA7D-682C3E5BED29}" destId="{B27D48B7-0BE6-47FB-8CBE-7AA7AEE6DDCF}" srcOrd="2" destOrd="0" presId="urn:microsoft.com/office/officeart/2005/8/layout/process4"/>
    <dgm:cxn modelId="{336F5146-4540-4DA7-9FA7-7B54AEE3646E}" type="presParOf" srcId="{B27D48B7-0BE6-47FB-8CBE-7AA7AEE6DDCF}" destId="{FAEED1D5-C5EA-4A0D-ADB5-9BECE0DFFC3C}" srcOrd="0" destOrd="0" presId="urn:microsoft.com/office/officeart/2005/8/layout/process4"/>
    <dgm:cxn modelId="{0D1582F7-3FE7-4BC8-B667-AF90FB7D75E1}" type="presParOf" srcId="{CA063433-F8C6-4389-BA7D-682C3E5BED29}" destId="{919200FD-7DCB-412E-AC4D-06764EE1ADA4}" srcOrd="3" destOrd="0" presId="urn:microsoft.com/office/officeart/2005/8/layout/process4"/>
    <dgm:cxn modelId="{8F45F94A-22CC-4890-9F43-8A4092404D4E}" type="presParOf" srcId="{CA063433-F8C6-4389-BA7D-682C3E5BED29}" destId="{6E6AE0E3-8C04-4042-9B6E-46FB03E5D2F3}" srcOrd="4" destOrd="0" presId="urn:microsoft.com/office/officeart/2005/8/layout/process4"/>
    <dgm:cxn modelId="{BCAA0DEB-6173-4E79-8BD7-71675F102EA1}" type="presParOf" srcId="{6E6AE0E3-8C04-4042-9B6E-46FB03E5D2F3}" destId="{CC4D9CE7-D29B-4554-9D03-2C669DDB9354}" srcOrd="0" destOrd="0" presId="urn:microsoft.com/office/officeart/2005/8/layout/process4"/>
    <dgm:cxn modelId="{9891D689-1531-4E88-A07F-0C7F5AE223D0}" type="presParOf" srcId="{CA063433-F8C6-4389-BA7D-682C3E5BED29}" destId="{74A321D4-49B2-4C6D-A93E-DA746849CC6C}" srcOrd="5" destOrd="0" presId="urn:microsoft.com/office/officeart/2005/8/layout/process4"/>
    <dgm:cxn modelId="{31F69F16-C292-4092-A5FB-B4DB344D089D}" type="presParOf" srcId="{CA063433-F8C6-4389-BA7D-682C3E5BED29}" destId="{EE227434-98D2-4EBF-905F-BDD3ADB87025}" srcOrd="6" destOrd="0" presId="urn:microsoft.com/office/officeart/2005/8/layout/process4"/>
    <dgm:cxn modelId="{21844BB3-B566-45C7-8779-C846321636CF}" type="presParOf" srcId="{EE227434-98D2-4EBF-905F-BDD3ADB87025}" destId="{E2318F97-C85F-4506-8303-2513602E4631}" srcOrd="0" destOrd="0" presId="urn:microsoft.com/office/officeart/2005/8/layout/process4"/>
    <dgm:cxn modelId="{2318CC2C-D387-4706-8BF6-675AB1078010}" type="presParOf" srcId="{CA063433-F8C6-4389-BA7D-682C3E5BED29}" destId="{195B5015-F78C-4230-9EE1-881CA548F85B}" srcOrd="7" destOrd="0" presId="urn:microsoft.com/office/officeart/2005/8/layout/process4"/>
    <dgm:cxn modelId="{7859E5A0-5C26-424E-A074-E6EDD5FB3BFA}" type="presParOf" srcId="{CA063433-F8C6-4389-BA7D-682C3E5BED29}" destId="{9B7E717B-6AC5-4F85-9657-BD4DBF3A6713}" srcOrd="8" destOrd="0" presId="urn:microsoft.com/office/officeart/2005/8/layout/process4"/>
    <dgm:cxn modelId="{16EC3DEF-3BE2-4BE8-A446-CD990E94CF42}" type="presParOf" srcId="{9B7E717B-6AC5-4F85-9657-BD4DBF3A6713}" destId="{5E2E07EA-4573-49E1-92AF-3A66ADD096EF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829FDAD-516E-4063-B1AF-E5B521FB3D7C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C236726-C36D-4893-A5F4-DF53E9006955}">
      <dgm:prSet/>
      <dgm:spPr/>
      <dgm:t>
        <a:bodyPr/>
        <a:lstStyle/>
        <a:p>
          <a:pPr rtl="0"/>
          <a:r>
            <a:rPr lang="pt-BR">
              <a:latin typeface="Trebuchet MS" panose="020B0603020202020204"/>
            </a:rPr>
            <a:t>6. O passageiro solicitará corrida seguindo os procedimentos </a:t>
          </a:r>
          <a:r>
            <a:rPr lang="pt-BR"/>
            <a:t>de acordo com Regras de Negócios</a:t>
          </a:r>
          <a:r>
            <a:rPr lang="pt-BR">
              <a:latin typeface="Trebuchet MS" panose="020B0603020202020204"/>
            </a:rPr>
            <a:t>, dados cadastrados</a:t>
          </a:r>
          <a:r>
            <a:rPr lang="pt-BR"/>
            <a:t> e Requisitos Funcionais opções de Automóveis, Preços, Distância, após escolher e solicitar, o motorista mais próximo que aceitar será enviado ao local</a:t>
          </a:r>
          <a:r>
            <a:rPr lang="pt-BR">
              <a:latin typeface="Trebuchet MS" panose="020B0603020202020204"/>
            </a:rPr>
            <a:t>;</a:t>
          </a:r>
          <a:endParaRPr lang="en-US">
            <a:latin typeface="Trebuchet MS" panose="020B0603020202020204"/>
          </a:endParaRPr>
        </a:p>
      </dgm:t>
    </dgm:pt>
    <dgm:pt modelId="{D6CDD69A-21C1-4AD6-8401-63BEF4452F47}" type="parTrans" cxnId="{ACC0FC91-086E-44E7-8631-4B97C9F180B2}">
      <dgm:prSet/>
      <dgm:spPr/>
      <dgm:t>
        <a:bodyPr/>
        <a:lstStyle/>
        <a:p>
          <a:endParaRPr lang="en-US"/>
        </a:p>
      </dgm:t>
    </dgm:pt>
    <dgm:pt modelId="{5FF1FB3B-E2C2-48BC-908A-FDFC24EB7801}" type="sibTrans" cxnId="{ACC0FC91-086E-44E7-8631-4B97C9F180B2}">
      <dgm:prSet/>
      <dgm:spPr/>
      <dgm:t>
        <a:bodyPr/>
        <a:lstStyle/>
        <a:p>
          <a:endParaRPr lang="en-US"/>
        </a:p>
      </dgm:t>
    </dgm:pt>
    <dgm:pt modelId="{D9DAAAE4-5515-42D6-877E-5FB0BC0F3CF4}">
      <dgm:prSet/>
      <dgm:spPr/>
      <dgm:t>
        <a:bodyPr/>
        <a:lstStyle/>
        <a:p>
          <a:pPr rtl="0"/>
          <a:r>
            <a:rPr lang="pt-BR">
              <a:latin typeface="Trebuchet MS" panose="020B0603020202020204"/>
            </a:rPr>
            <a:t>8. Ao</a:t>
          </a:r>
          <a:r>
            <a:rPr lang="pt-BR"/>
            <a:t> chegar no destino</a:t>
          </a:r>
          <a:r>
            <a:rPr lang="pt-BR">
              <a:latin typeface="Trebuchet MS" panose="020B0603020202020204"/>
            </a:rPr>
            <a:t> e finalizar corrida</a:t>
          </a:r>
          <a:r>
            <a:rPr lang="pt-BR"/>
            <a:t>,</a:t>
          </a:r>
          <a:r>
            <a:rPr lang="pt-BR">
              <a:latin typeface="Trebuchet MS" panose="020B0603020202020204"/>
            </a:rPr>
            <a:t> será descontado eletrônicamente (Forma de Pagamento em Cartão de Crédito ou Débito), ou em cédulas (solicitada pelo motorista);</a:t>
          </a:r>
          <a:endParaRPr lang="en-US"/>
        </a:p>
      </dgm:t>
    </dgm:pt>
    <dgm:pt modelId="{21F89885-7F30-45F2-80C6-90B076C0666B}" type="parTrans" cxnId="{C6256BFF-BC0B-485C-B21F-EFEB12F97CC6}">
      <dgm:prSet/>
      <dgm:spPr/>
      <dgm:t>
        <a:bodyPr/>
        <a:lstStyle/>
        <a:p>
          <a:endParaRPr lang="en-US"/>
        </a:p>
      </dgm:t>
    </dgm:pt>
    <dgm:pt modelId="{C539599B-D8CF-42FC-A1FE-D0305C304047}" type="sibTrans" cxnId="{C6256BFF-BC0B-485C-B21F-EFEB12F97CC6}">
      <dgm:prSet/>
      <dgm:spPr/>
      <dgm:t>
        <a:bodyPr/>
        <a:lstStyle/>
        <a:p>
          <a:endParaRPr lang="en-US"/>
        </a:p>
      </dgm:t>
    </dgm:pt>
    <dgm:pt modelId="{75AA0F2A-934F-4449-8821-7AE5BAE35F1E}">
      <dgm:prSet phldr="0"/>
      <dgm:spPr/>
      <dgm:t>
        <a:bodyPr/>
        <a:lstStyle/>
        <a:p>
          <a:pPr rtl="0"/>
          <a:r>
            <a:rPr lang="pt-BR">
              <a:latin typeface="Trebuchet MS" panose="020B0603020202020204"/>
            </a:rPr>
            <a:t>7. O E-commerce</a:t>
          </a:r>
          <a:r>
            <a:rPr lang="pt-BR"/>
            <a:t> </a:t>
          </a:r>
          <a:r>
            <a:rPr lang="pt-BR">
              <a:latin typeface="Trebuchet MS" panose="020B0603020202020204"/>
            </a:rPr>
            <a:t>informará os dados do motorista e do automóvel que está sendo usado por ele na Conta do Passageiro, além da opção de Bate-papo para comunicar-se pela plataforma;</a:t>
          </a:r>
          <a:r>
            <a:rPr lang="pt-BR"/>
            <a:t> </a:t>
          </a:r>
        </a:p>
      </dgm:t>
    </dgm:pt>
    <dgm:pt modelId="{78D0E821-D13E-4A0F-9401-D021C787FCF5}" type="parTrans" cxnId="{EFCCFB9F-886F-471E-94E4-35CFFA5E8A22}">
      <dgm:prSet/>
      <dgm:spPr/>
    </dgm:pt>
    <dgm:pt modelId="{3BD6DD12-70CE-48B7-B4A6-691480561C93}" type="sibTrans" cxnId="{EFCCFB9F-886F-471E-94E4-35CFFA5E8A22}">
      <dgm:prSet/>
      <dgm:spPr/>
      <dgm:t>
        <a:bodyPr/>
        <a:lstStyle/>
        <a:p>
          <a:endParaRPr lang="pt-BR"/>
        </a:p>
      </dgm:t>
    </dgm:pt>
    <dgm:pt modelId="{039080CF-575A-4E34-8815-B9A31B541171}">
      <dgm:prSet phldr="0"/>
      <dgm:spPr/>
      <dgm:t>
        <a:bodyPr/>
        <a:lstStyle/>
        <a:p>
          <a:pPr rtl="0"/>
          <a:r>
            <a:rPr lang="pt-BR">
              <a:latin typeface="Trebuchet MS" panose="020B0603020202020204"/>
            </a:rPr>
            <a:t>9. Por fim, será finalizado definitivamente após cada um avaliar o perfil do outro, fazendo com que o E-commerce envie o recibo de Corrida tanto para o E-mail cadastrado e para as notificações do Perfil criado.</a:t>
          </a:r>
        </a:p>
      </dgm:t>
    </dgm:pt>
    <dgm:pt modelId="{A77EA098-DB64-4611-A610-573AB11DB32A}" type="parTrans" cxnId="{6EE75C18-FCEA-473A-B89C-BF0E2815FE68}">
      <dgm:prSet/>
      <dgm:spPr/>
    </dgm:pt>
    <dgm:pt modelId="{8914CF40-748A-439D-9947-6ADC9F7B312F}" type="sibTrans" cxnId="{6EE75C18-FCEA-473A-B89C-BF0E2815FE68}">
      <dgm:prSet/>
      <dgm:spPr/>
    </dgm:pt>
    <dgm:pt modelId="{460F51F8-E58C-40EE-A0D4-5BB1A7B31BCB}" type="pres">
      <dgm:prSet presAssocID="{F829FDAD-516E-4063-B1AF-E5B521FB3D7C}" presName="outerComposite" presStyleCnt="0">
        <dgm:presLayoutVars>
          <dgm:chMax val="5"/>
          <dgm:dir/>
          <dgm:resizeHandles val="exact"/>
        </dgm:presLayoutVars>
      </dgm:prSet>
      <dgm:spPr/>
    </dgm:pt>
    <dgm:pt modelId="{296CA01B-0324-44C0-A52A-CE201E64DCFC}" type="pres">
      <dgm:prSet presAssocID="{F829FDAD-516E-4063-B1AF-E5B521FB3D7C}" presName="dummyMaxCanvas" presStyleCnt="0">
        <dgm:presLayoutVars/>
      </dgm:prSet>
      <dgm:spPr/>
    </dgm:pt>
    <dgm:pt modelId="{BB59576A-F38A-4F1F-918C-3E7829104BA4}" type="pres">
      <dgm:prSet presAssocID="{F829FDAD-516E-4063-B1AF-E5B521FB3D7C}" presName="FourNodes_1" presStyleLbl="node1" presStyleIdx="0" presStyleCnt="4">
        <dgm:presLayoutVars>
          <dgm:bulletEnabled val="1"/>
        </dgm:presLayoutVars>
      </dgm:prSet>
      <dgm:spPr/>
    </dgm:pt>
    <dgm:pt modelId="{CA15FA01-FA39-455B-8ACB-152FD2787B71}" type="pres">
      <dgm:prSet presAssocID="{F829FDAD-516E-4063-B1AF-E5B521FB3D7C}" presName="FourNodes_2" presStyleLbl="node1" presStyleIdx="1" presStyleCnt="4">
        <dgm:presLayoutVars>
          <dgm:bulletEnabled val="1"/>
        </dgm:presLayoutVars>
      </dgm:prSet>
      <dgm:spPr/>
    </dgm:pt>
    <dgm:pt modelId="{088BEC72-1753-4D01-813C-BB734C71D010}" type="pres">
      <dgm:prSet presAssocID="{F829FDAD-516E-4063-B1AF-E5B521FB3D7C}" presName="FourNodes_3" presStyleLbl="node1" presStyleIdx="2" presStyleCnt="4">
        <dgm:presLayoutVars>
          <dgm:bulletEnabled val="1"/>
        </dgm:presLayoutVars>
      </dgm:prSet>
      <dgm:spPr/>
    </dgm:pt>
    <dgm:pt modelId="{068A7D81-4270-4A86-90BC-90A7C95F1A0B}" type="pres">
      <dgm:prSet presAssocID="{F829FDAD-516E-4063-B1AF-E5B521FB3D7C}" presName="FourNodes_4" presStyleLbl="node1" presStyleIdx="3" presStyleCnt="4">
        <dgm:presLayoutVars>
          <dgm:bulletEnabled val="1"/>
        </dgm:presLayoutVars>
      </dgm:prSet>
      <dgm:spPr/>
    </dgm:pt>
    <dgm:pt modelId="{EBF08BCE-ACE6-4806-A045-0CBD4AB741EB}" type="pres">
      <dgm:prSet presAssocID="{F829FDAD-516E-4063-B1AF-E5B521FB3D7C}" presName="FourConn_1-2" presStyleLbl="fgAccFollowNode1" presStyleIdx="0" presStyleCnt="3">
        <dgm:presLayoutVars>
          <dgm:bulletEnabled val="1"/>
        </dgm:presLayoutVars>
      </dgm:prSet>
      <dgm:spPr/>
    </dgm:pt>
    <dgm:pt modelId="{D6D0324C-96F3-4EC3-83CC-AB0499B5E509}" type="pres">
      <dgm:prSet presAssocID="{F829FDAD-516E-4063-B1AF-E5B521FB3D7C}" presName="FourConn_2-3" presStyleLbl="fgAccFollowNode1" presStyleIdx="1" presStyleCnt="3">
        <dgm:presLayoutVars>
          <dgm:bulletEnabled val="1"/>
        </dgm:presLayoutVars>
      </dgm:prSet>
      <dgm:spPr/>
    </dgm:pt>
    <dgm:pt modelId="{7EF20ED4-ABD1-4F6D-9487-8ECE69B398CB}" type="pres">
      <dgm:prSet presAssocID="{F829FDAD-516E-4063-B1AF-E5B521FB3D7C}" presName="FourConn_3-4" presStyleLbl="fgAccFollowNode1" presStyleIdx="2" presStyleCnt="3">
        <dgm:presLayoutVars>
          <dgm:bulletEnabled val="1"/>
        </dgm:presLayoutVars>
      </dgm:prSet>
      <dgm:spPr/>
    </dgm:pt>
    <dgm:pt modelId="{B839C5BF-DDE8-4A41-853B-19FA32EB4F51}" type="pres">
      <dgm:prSet presAssocID="{F829FDAD-516E-4063-B1AF-E5B521FB3D7C}" presName="FourNodes_1_text" presStyleLbl="node1" presStyleIdx="3" presStyleCnt="4">
        <dgm:presLayoutVars>
          <dgm:bulletEnabled val="1"/>
        </dgm:presLayoutVars>
      </dgm:prSet>
      <dgm:spPr/>
    </dgm:pt>
    <dgm:pt modelId="{747A5996-9CCD-461C-B105-061EDAF325EF}" type="pres">
      <dgm:prSet presAssocID="{F829FDAD-516E-4063-B1AF-E5B521FB3D7C}" presName="FourNodes_2_text" presStyleLbl="node1" presStyleIdx="3" presStyleCnt="4">
        <dgm:presLayoutVars>
          <dgm:bulletEnabled val="1"/>
        </dgm:presLayoutVars>
      </dgm:prSet>
      <dgm:spPr/>
    </dgm:pt>
    <dgm:pt modelId="{C3F497BB-02A2-44BA-9EA4-E41BD1D4443D}" type="pres">
      <dgm:prSet presAssocID="{F829FDAD-516E-4063-B1AF-E5B521FB3D7C}" presName="FourNodes_3_text" presStyleLbl="node1" presStyleIdx="3" presStyleCnt="4">
        <dgm:presLayoutVars>
          <dgm:bulletEnabled val="1"/>
        </dgm:presLayoutVars>
      </dgm:prSet>
      <dgm:spPr/>
    </dgm:pt>
    <dgm:pt modelId="{068D50C4-2121-402B-8EE6-07A3E6484AA9}" type="pres">
      <dgm:prSet presAssocID="{F829FDAD-516E-4063-B1AF-E5B521FB3D7C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F51A3B14-90C4-40D9-BE61-11482C35AC77}" type="presOf" srcId="{3BD6DD12-70CE-48B7-B4A6-691480561C93}" destId="{D6D0324C-96F3-4EC3-83CC-AB0499B5E509}" srcOrd="0" destOrd="0" presId="urn:microsoft.com/office/officeart/2005/8/layout/vProcess5"/>
    <dgm:cxn modelId="{6EE75C18-FCEA-473A-B89C-BF0E2815FE68}" srcId="{F829FDAD-516E-4063-B1AF-E5B521FB3D7C}" destId="{039080CF-575A-4E34-8815-B9A31B541171}" srcOrd="3" destOrd="0" parTransId="{A77EA098-DB64-4611-A610-573AB11DB32A}" sibTransId="{8914CF40-748A-439D-9947-6ADC9F7B312F}"/>
    <dgm:cxn modelId="{9ADA8C1E-0D28-4774-A7A7-CDD59B65F442}" type="presOf" srcId="{F829FDAD-516E-4063-B1AF-E5B521FB3D7C}" destId="{460F51F8-E58C-40EE-A0D4-5BB1A7B31BCB}" srcOrd="0" destOrd="0" presId="urn:microsoft.com/office/officeart/2005/8/layout/vProcess5"/>
    <dgm:cxn modelId="{7BB17923-E136-4657-AE5B-70A1FB26BA40}" type="presOf" srcId="{5FF1FB3B-E2C2-48BC-908A-FDFC24EB7801}" destId="{EBF08BCE-ACE6-4806-A045-0CBD4AB741EB}" srcOrd="0" destOrd="0" presId="urn:microsoft.com/office/officeart/2005/8/layout/vProcess5"/>
    <dgm:cxn modelId="{4CB4262F-2024-4E59-9769-0CC05AB0E1E4}" type="presOf" srcId="{EC236726-C36D-4893-A5F4-DF53E9006955}" destId="{B839C5BF-DDE8-4A41-853B-19FA32EB4F51}" srcOrd="1" destOrd="0" presId="urn:microsoft.com/office/officeart/2005/8/layout/vProcess5"/>
    <dgm:cxn modelId="{73718A35-44D3-4449-AAC7-70D40E873623}" type="presOf" srcId="{039080CF-575A-4E34-8815-B9A31B541171}" destId="{068A7D81-4270-4A86-90BC-90A7C95F1A0B}" srcOrd="0" destOrd="0" presId="urn:microsoft.com/office/officeart/2005/8/layout/vProcess5"/>
    <dgm:cxn modelId="{BBE4FE75-A8EA-4B52-AC8F-962923B51F70}" type="presOf" srcId="{C539599B-D8CF-42FC-A1FE-D0305C304047}" destId="{7EF20ED4-ABD1-4F6D-9487-8ECE69B398CB}" srcOrd="0" destOrd="0" presId="urn:microsoft.com/office/officeart/2005/8/layout/vProcess5"/>
    <dgm:cxn modelId="{20FC3C5A-76FF-4998-8352-1134D1376899}" type="presOf" srcId="{039080CF-575A-4E34-8815-B9A31B541171}" destId="{068D50C4-2121-402B-8EE6-07A3E6484AA9}" srcOrd="1" destOrd="0" presId="urn:microsoft.com/office/officeart/2005/8/layout/vProcess5"/>
    <dgm:cxn modelId="{ACC0FC91-086E-44E7-8631-4B97C9F180B2}" srcId="{F829FDAD-516E-4063-B1AF-E5B521FB3D7C}" destId="{EC236726-C36D-4893-A5F4-DF53E9006955}" srcOrd="0" destOrd="0" parTransId="{D6CDD69A-21C1-4AD6-8401-63BEF4452F47}" sibTransId="{5FF1FB3B-E2C2-48BC-908A-FDFC24EB7801}"/>
    <dgm:cxn modelId="{75C33B98-0C48-4415-94EE-54DFE209EA19}" type="presOf" srcId="{75AA0F2A-934F-4449-8821-7AE5BAE35F1E}" destId="{CA15FA01-FA39-455B-8ACB-152FD2787B71}" srcOrd="0" destOrd="0" presId="urn:microsoft.com/office/officeart/2005/8/layout/vProcess5"/>
    <dgm:cxn modelId="{EFCCFB9F-886F-471E-94E4-35CFFA5E8A22}" srcId="{F829FDAD-516E-4063-B1AF-E5B521FB3D7C}" destId="{75AA0F2A-934F-4449-8821-7AE5BAE35F1E}" srcOrd="1" destOrd="0" parTransId="{78D0E821-D13E-4A0F-9401-D021C787FCF5}" sibTransId="{3BD6DD12-70CE-48B7-B4A6-691480561C93}"/>
    <dgm:cxn modelId="{E3A639B1-AE50-4C6D-AF79-636E4BACC8AA}" type="presOf" srcId="{EC236726-C36D-4893-A5F4-DF53E9006955}" destId="{BB59576A-F38A-4F1F-918C-3E7829104BA4}" srcOrd="0" destOrd="0" presId="urn:microsoft.com/office/officeart/2005/8/layout/vProcess5"/>
    <dgm:cxn modelId="{D070FBC2-E5D8-432B-B3F1-F6B04C62647B}" type="presOf" srcId="{D9DAAAE4-5515-42D6-877E-5FB0BC0F3CF4}" destId="{088BEC72-1753-4D01-813C-BB734C71D010}" srcOrd="0" destOrd="0" presId="urn:microsoft.com/office/officeart/2005/8/layout/vProcess5"/>
    <dgm:cxn modelId="{D331F6C4-548A-4217-8944-D13872FFEBB4}" type="presOf" srcId="{D9DAAAE4-5515-42D6-877E-5FB0BC0F3CF4}" destId="{C3F497BB-02A2-44BA-9EA4-E41BD1D4443D}" srcOrd="1" destOrd="0" presId="urn:microsoft.com/office/officeart/2005/8/layout/vProcess5"/>
    <dgm:cxn modelId="{779870C7-58EA-42FF-B91A-37B9BA0D1E5A}" type="presOf" srcId="{75AA0F2A-934F-4449-8821-7AE5BAE35F1E}" destId="{747A5996-9CCD-461C-B105-061EDAF325EF}" srcOrd="1" destOrd="0" presId="urn:microsoft.com/office/officeart/2005/8/layout/vProcess5"/>
    <dgm:cxn modelId="{C6256BFF-BC0B-485C-B21F-EFEB12F97CC6}" srcId="{F829FDAD-516E-4063-B1AF-E5B521FB3D7C}" destId="{D9DAAAE4-5515-42D6-877E-5FB0BC0F3CF4}" srcOrd="2" destOrd="0" parTransId="{21F89885-7F30-45F2-80C6-90B076C0666B}" sibTransId="{C539599B-D8CF-42FC-A1FE-D0305C304047}"/>
    <dgm:cxn modelId="{E4997372-B00F-4B8E-9B39-E2363D8A87E6}" type="presParOf" srcId="{460F51F8-E58C-40EE-A0D4-5BB1A7B31BCB}" destId="{296CA01B-0324-44C0-A52A-CE201E64DCFC}" srcOrd="0" destOrd="0" presId="urn:microsoft.com/office/officeart/2005/8/layout/vProcess5"/>
    <dgm:cxn modelId="{FF706863-97B7-4CCD-9AB6-25CA61DA87CF}" type="presParOf" srcId="{460F51F8-E58C-40EE-A0D4-5BB1A7B31BCB}" destId="{BB59576A-F38A-4F1F-918C-3E7829104BA4}" srcOrd="1" destOrd="0" presId="urn:microsoft.com/office/officeart/2005/8/layout/vProcess5"/>
    <dgm:cxn modelId="{8902C57B-B0C4-43F6-BDEF-20C66879C27A}" type="presParOf" srcId="{460F51F8-E58C-40EE-A0D4-5BB1A7B31BCB}" destId="{CA15FA01-FA39-455B-8ACB-152FD2787B71}" srcOrd="2" destOrd="0" presId="urn:microsoft.com/office/officeart/2005/8/layout/vProcess5"/>
    <dgm:cxn modelId="{01E91B73-7AFE-4837-B8B7-05815769217F}" type="presParOf" srcId="{460F51F8-E58C-40EE-A0D4-5BB1A7B31BCB}" destId="{088BEC72-1753-4D01-813C-BB734C71D010}" srcOrd="3" destOrd="0" presId="urn:microsoft.com/office/officeart/2005/8/layout/vProcess5"/>
    <dgm:cxn modelId="{E8711701-17CA-49D3-82BA-27E94D5692BC}" type="presParOf" srcId="{460F51F8-E58C-40EE-A0D4-5BB1A7B31BCB}" destId="{068A7D81-4270-4A86-90BC-90A7C95F1A0B}" srcOrd="4" destOrd="0" presId="urn:microsoft.com/office/officeart/2005/8/layout/vProcess5"/>
    <dgm:cxn modelId="{F8216FFF-6154-412E-9221-9AD94F3335E0}" type="presParOf" srcId="{460F51F8-E58C-40EE-A0D4-5BB1A7B31BCB}" destId="{EBF08BCE-ACE6-4806-A045-0CBD4AB741EB}" srcOrd="5" destOrd="0" presId="urn:microsoft.com/office/officeart/2005/8/layout/vProcess5"/>
    <dgm:cxn modelId="{E789BB2C-5459-4D09-BD77-45E879F9C203}" type="presParOf" srcId="{460F51F8-E58C-40EE-A0D4-5BB1A7B31BCB}" destId="{D6D0324C-96F3-4EC3-83CC-AB0499B5E509}" srcOrd="6" destOrd="0" presId="urn:microsoft.com/office/officeart/2005/8/layout/vProcess5"/>
    <dgm:cxn modelId="{3DE30BA8-606E-4155-B9DB-06C2D1A6B3FF}" type="presParOf" srcId="{460F51F8-E58C-40EE-A0D4-5BB1A7B31BCB}" destId="{7EF20ED4-ABD1-4F6D-9487-8ECE69B398CB}" srcOrd="7" destOrd="0" presId="urn:microsoft.com/office/officeart/2005/8/layout/vProcess5"/>
    <dgm:cxn modelId="{67DDC3F1-5735-48F7-90DB-ECD5A8B15D96}" type="presParOf" srcId="{460F51F8-E58C-40EE-A0D4-5BB1A7B31BCB}" destId="{B839C5BF-DDE8-4A41-853B-19FA32EB4F51}" srcOrd="8" destOrd="0" presId="urn:microsoft.com/office/officeart/2005/8/layout/vProcess5"/>
    <dgm:cxn modelId="{14056C58-7BB2-44ED-8D61-FB5B41C7F93A}" type="presParOf" srcId="{460F51F8-E58C-40EE-A0D4-5BB1A7B31BCB}" destId="{747A5996-9CCD-461C-B105-061EDAF325EF}" srcOrd="9" destOrd="0" presId="urn:microsoft.com/office/officeart/2005/8/layout/vProcess5"/>
    <dgm:cxn modelId="{834ABA02-45C1-47B9-ADC0-53EBA8C91867}" type="presParOf" srcId="{460F51F8-E58C-40EE-A0D4-5BB1A7B31BCB}" destId="{C3F497BB-02A2-44BA-9EA4-E41BD1D4443D}" srcOrd="10" destOrd="0" presId="urn:microsoft.com/office/officeart/2005/8/layout/vProcess5"/>
    <dgm:cxn modelId="{4E3683A5-2DEA-4318-AFEA-5637CD3B3787}" type="presParOf" srcId="{460F51F8-E58C-40EE-A0D4-5BB1A7B31BCB}" destId="{068D50C4-2121-402B-8EE6-07A3E6484AA9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483414-4250-40F4-BBBE-D50860E91366}">
      <dsp:nvSpPr>
        <dsp:cNvPr id="0" name=""/>
        <dsp:cNvSpPr/>
      </dsp:nvSpPr>
      <dsp:spPr>
        <a:xfrm>
          <a:off x="0" y="4275731"/>
          <a:ext cx="6628804" cy="70146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>
              <a:latin typeface="Trebuchet MS" panose="020B0603020202020204"/>
            </a:rPr>
            <a:t>5. Caso seja Cliente e estiver 'Logado', o sistema levará até a área principal do E-commerce;</a:t>
          </a:r>
          <a:endParaRPr lang="pt-BR" sz="1700" kern="1200"/>
        </a:p>
      </dsp:txBody>
      <dsp:txXfrm>
        <a:off x="0" y="4275731"/>
        <a:ext cx="6628804" cy="701469"/>
      </dsp:txXfrm>
    </dsp:sp>
    <dsp:sp modelId="{FAEED1D5-C5EA-4A0D-ADB5-9BECE0DFFC3C}">
      <dsp:nvSpPr>
        <dsp:cNvPr id="0" name=""/>
        <dsp:cNvSpPr/>
      </dsp:nvSpPr>
      <dsp:spPr>
        <a:xfrm rot="10800000">
          <a:off x="0" y="3207393"/>
          <a:ext cx="6628804" cy="1078859"/>
        </a:xfrm>
        <a:prstGeom prst="upArrowCallou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3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>
              <a:latin typeface="Trebuchet MS" panose="020B0603020202020204"/>
            </a:rPr>
            <a:t>4. Caso seja Cliente e não ter feito 'Login', o sistema levará até a página de início, e esse clicará em 'Logar';</a:t>
          </a:r>
        </a:p>
      </dsp:txBody>
      <dsp:txXfrm rot="10800000">
        <a:off x="0" y="3207393"/>
        <a:ext cx="6628804" cy="701010"/>
      </dsp:txXfrm>
    </dsp:sp>
    <dsp:sp modelId="{CC4D9CE7-D29B-4554-9D03-2C669DDB9354}">
      <dsp:nvSpPr>
        <dsp:cNvPr id="0" name=""/>
        <dsp:cNvSpPr/>
      </dsp:nvSpPr>
      <dsp:spPr>
        <a:xfrm rot="10800000">
          <a:off x="0" y="2139055"/>
          <a:ext cx="6628804" cy="1078859"/>
        </a:xfrm>
        <a:prstGeom prst="upArrowCallou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4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>
              <a:latin typeface="Trebuchet MS" panose="020B0603020202020204"/>
            </a:rPr>
            <a:t>3. Após</a:t>
          </a:r>
          <a:r>
            <a:rPr lang="pt-BR" sz="1700" kern="1200"/>
            <a:t> Cadastrar ou 'Logar' encaminhará para o área principal do E-commerce;</a:t>
          </a:r>
        </a:p>
      </dsp:txBody>
      <dsp:txXfrm rot="10800000">
        <a:off x="0" y="2139055"/>
        <a:ext cx="6628804" cy="701010"/>
      </dsp:txXfrm>
    </dsp:sp>
    <dsp:sp modelId="{E2318F97-C85F-4506-8303-2513602E4631}">
      <dsp:nvSpPr>
        <dsp:cNvPr id="0" name=""/>
        <dsp:cNvSpPr/>
      </dsp:nvSpPr>
      <dsp:spPr>
        <a:xfrm rot="10800000">
          <a:off x="0" y="1070718"/>
          <a:ext cx="6628804" cy="1078859"/>
        </a:xfrm>
        <a:prstGeom prst="upArrowCallou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5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>
              <a:latin typeface="Trebuchet MS" panose="020B0603020202020204"/>
            </a:rPr>
            <a:t> 2. Caso</a:t>
          </a:r>
          <a:r>
            <a:rPr lang="pt-BR" sz="1700" kern="1200"/>
            <a:t> não </a:t>
          </a:r>
          <a:r>
            <a:rPr lang="pt-BR" sz="1700" kern="1200">
              <a:latin typeface="Trebuchet MS" panose="020B0603020202020204"/>
            </a:rPr>
            <a:t>seja</a:t>
          </a:r>
          <a:r>
            <a:rPr lang="pt-BR" sz="1700" kern="1200"/>
            <a:t> Cliente</a:t>
          </a:r>
          <a:r>
            <a:rPr lang="pt-BR" sz="1700" kern="1200">
              <a:latin typeface="Trebuchet MS" panose="020B0603020202020204"/>
            </a:rPr>
            <a:t>,</a:t>
          </a:r>
          <a:r>
            <a:rPr lang="pt-BR" sz="1700" kern="1200"/>
            <a:t> o sistema levará</a:t>
          </a:r>
          <a:r>
            <a:rPr lang="pt-BR" sz="1700" kern="1200">
              <a:latin typeface="Trebuchet MS" panose="020B0603020202020204"/>
            </a:rPr>
            <a:t> </a:t>
          </a:r>
          <a:r>
            <a:rPr lang="pt-BR" sz="1700" kern="1200"/>
            <a:t> até </a:t>
          </a:r>
          <a:r>
            <a:rPr lang="pt-BR" sz="1700" kern="1200">
              <a:latin typeface="Trebuchet MS" panose="020B0603020202020204"/>
            </a:rPr>
            <a:t>a página de ínicio onde terá a opção de 'Logar' e 'Cadastrar';</a:t>
          </a:r>
          <a:endParaRPr lang="en-US" sz="1700" kern="1200"/>
        </a:p>
      </dsp:txBody>
      <dsp:txXfrm rot="10800000">
        <a:off x="0" y="1070718"/>
        <a:ext cx="6628804" cy="701010"/>
      </dsp:txXfrm>
    </dsp:sp>
    <dsp:sp modelId="{5E2E07EA-4573-49E1-92AF-3A66ADD096EF}">
      <dsp:nvSpPr>
        <dsp:cNvPr id="0" name=""/>
        <dsp:cNvSpPr/>
      </dsp:nvSpPr>
      <dsp:spPr>
        <a:xfrm rot="10800000">
          <a:off x="0" y="2380"/>
          <a:ext cx="6628804" cy="1078859"/>
        </a:xfrm>
        <a:prstGeom prst="upArrowCallou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6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>
              <a:latin typeface="Trebuchet MS" panose="020B0603020202020204"/>
            </a:rPr>
            <a:t>1. O</a:t>
          </a:r>
          <a:r>
            <a:rPr lang="pt-BR" sz="1700" kern="1200"/>
            <a:t> sistema </a:t>
          </a:r>
          <a:r>
            <a:rPr lang="pt-BR" sz="1700" kern="1200">
              <a:latin typeface="Trebuchet MS" panose="020B0603020202020204"/>
            </a:rPr>
            <a:t>conferirá</a:t>
          </a:r>
          <a:r>
            <a:rPr lang="pt-BR" sz="1700" kern="1200"/>
            <a:t> o perfil do passageiro</a:t>
          </a:r>
          <a:r>
            <a:rPr lang="pt-BR" sz="1700" kern="1200">
              <a:latin typeface="Trebuchet MS" panose="020B0603020202020204"/>
            </a:rPr>
            <a:t> (existente, existente e 'logado' ou necessário cadastrar);</a:t>
          </a:r>
          <a:endParaRPr lang="en-US" sz="1700" kern="1200"/>
        </a:p>
      </dsp:txBody>
      <dsp:txXfrm rot="10800000">
        <a:off x="0" y="2380"/>
        <a:ext cx="6628804" cy="7010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59576A-F38A-4F1F-918C-3E7829104BA4}">
      <dsp:nvSpPr>
        <dsp:cNvPr id="0" name=""/>
        <dsp:cNvSpPr/>
      </dsp:nvSpPr>
      <dsp:spPr>
        <a:xfrm>
          <a:off x="0" y="0"/>
          <a:ext cx="7694506" cy="107482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>
              <a:latin typeface="Trebuchet MS" panose="020B0603020202020204"/>
            </a:rPr>
            <a:t>6. O passageiro solicitará corrida seguindo os procedimentos </a:t>
          </a:r>
          <a:r>
            <a:rPr lang="pt-BR" sz="1600" kern="1200"/>
            <a:t>de acordo com Regras de Negócios</a:t>
          </a:r>
          <a:r>
            <a:rPr lang="pt-BR" sz="1600" kern="1200">
              <a:latin typeface="Trebuchet MS" panose="020B0603020202020204"/>
            </a:rPr>
            <a:t>, dados cadastrados</a:t>
          </a:r>
          <a:r>
            <a:rPr lang="pt-BR" sz="1600" kern="1200"/>
            <a:t> e Requisitos Funcionais opções de Automóveis, Preços, Distância, após escolher e solicitar, o motorista mais próximo que aceitar será enviado ao local</a:t>
          </a:r>
          <a:r>
            <a:rPr lang="pt-BR" sz="1600" kern="1200">
              <a:latin typeface="Trebuchet MS" panose="020B0603020202020204"/>
            </a:rPr>
            <a:t>;</a:t>
          </a:r>
          <a:endParaRPr lang="en-US" sz="1600" kern="1200">
            <a:latin typeface="Trebuchet MS" panose="020B0603020202020204"/>
          </a:endParaRPr>
        </a:p>
      </dsp:txBody>
      <dsp:txXfrm>
        <a:off x="31480" y="31480"/>
        <a:ext cx="6443866" cy="1011863"/>
      </dsp:txXfrm>
    </dsp:sp>
    <dsp:sp modelId="{CA15FA01-FA39-455B-8ACB-152FD2787B71}">
      <dsp:nvSpPr>
        <dsp:cNvPr id="0" name=""/>
        <dsp:cNvSpPr/>
      </dsp:nvSpPr>
      <dsp:spPr>
        <a:xfrm>
          <a:off x="644414" y="1270245"/>
          <a:ext cx="7694506" cy="1074823"/>
        </a:xfrm>
        <a:prstGeom prst="roundRect">
          <a:avLst>
            <a:gd name="adj" fmla="val 10000"/>
          </a:avLst>
        </a:prstGeom>
        <a:solidFill>
          <a:schemeClr val="accent2">
            <a:hueOff val="-988095"/>
            <a:satOff val="4733"/>
            <a:lumOff val="437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>
              <a:latin typeface="Trebuchet MS" panose="020B0603020202020204"/>
            </a:rPr>
            <a:t>7. O E-commerce</a:t>
          </a:r>
          <a:r>
            <a:rPr lang="pt-BR" sz="1600" kern="1200"/>
            <a:t> </a:t>
          </a:r>
          <a:r>
            <a:rPr lang="pt-BR" sz="1600" kern="1200">
              <a:latin typeface="Trebuchet MS" panose="020B0603020202020204"/>
            </a:rPr>
            <a:t>informará os dados do motorista e do automóvel que está sendo usado por ele na Conta do Passageiro, além da opção de Bate-papo para comunicar-se pela plataforma;</a:t>
          </a:r>
          <a:r>
            <a:rPr lang="pt-BR" sz="1600" kern="1200"/>
            <a:t> </a:t>
          </a:r>
        </a:p>
      </dsp:txBody>
      <dsp:txXfrm>
        <a:off x="675894" y="1301725"/>
        <a:ext cx="6288496" cy="1011863"/>
      </dsp:txXfrm>
    </dsp:sp>
    <dsp:sp modelId="{088BEC72-1753-4D01-813C-BB734C71D010}">
      <dsp:nvSpPr>
        <dsp:cNvPr id="0" name=""/>
        <dsp:cNvSpPr/>
      </dsp:nvSpPr>
      <dsp:spPr>
        <a:xfrm>
          <a:off x="1279211" y="2540491"/>
          <a:ext cx="7694506" cy="1074823"/>
        </a:xfrm>
        <a:prstGeom prst="roundRect">
          <a:avLst>
            <a:gd name="adj" fmla="val 10000"/>
          </a:avLst>
        </a:prstGeom>
        <a:solidFill>
          <a:schemeClr val="accent2">
            <a:hueOff val="-1976191"/>
            <a:satOff val="9467"/>
            <a:lumOff val="8758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>
              <a:latin typeface="Trebuchet MS" panose="020B0603020202020204"/>
            </a:rPr>
            <a:t>8. Ao</a:t>
          </a:r>
          <a:r>
            <a:rPr lang="pt-BR" sz="1600" kern="1200"/>
            <a:t> chegar no destino</a:t>
          </a:r>
          <a:r>
            <a:rPr lang="pt-BR" sz="1600" kern="1200">
              <a:latin typeface="Trebuchet MS" panose="020B0603020202020204"/>
            </a:rPr>
            <a:t> e finalizar corrida</a:t>
          </a:r>
          <a:r>
            <a:rPr lang="pt-BR" sz="1600" kern="1200"/>
            <a:t>,</a:t>
          </a:r>
          <a:r>
            <a:rPr lang="pt-BR" sz="1600" kern="1200">
              <a:latin typeface="Trebuchet MS" panose="020B0603020202020204"/>
            </a:rPr>
            <a:t> será descontado eletrônicamente (Forma de Pagamento em Cartão de Crédito ou Débito), ou em cédulas (solicitada pelo motorista);</a:t>
          </a:r>
          <a:endParaRPr lang="en-US" sz="1600" kern="1200"/>
        </a:p>
      </dsp:txBody>
      <dsp:txXfrm>
        <a:off x="1310691" y="2571971"/>
        <a:ext cx="6298114" cy="1011863"/>
      </dsp:txXfrm>
    </dsp:sp>
    <dsp:sp modelId="{068A7D81-4270-4A86-90BC-90A7C95F1A0B}">
      <dsp:nvSpPr>
        <dsp:cNvPr id="0" name=""/>
        <dsp:cNvSpPr/>
      </dsp:nvSpPr>
      <dsp:spPr>
        <a:xfrm>
          <a:off x="1923626" y="3810736"/>
          <a:ext cx="7694506" cy="1074823"/>
        </a:xfrm>
        <a:prstGeom prst="roundRect">
          <a:avLst>
            <a:gd name="adj" fmla="val 10000"/>
          </a:avLst>
        </a:prstGeom>
        <a:solidFill>
          <a:schemeClr val="accent2">
            <a:hueOff val="-2964286"/>
            <a:satOff val="14200"/>
            <a:lumOff val="1313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>
              <a:latin typeface="Trebuchet MS" panose="020B0603020202020204"/>
            </a:rPr>
            <a:t>9. Por fim, será finalizado definitivamente após cada um avaliar o perfil do outro, fazendo com que o E-commerce envie o recibo de Corrida tanto para o E-mail cadastrado e para as notificações do Perfil criado.</a:t>
          </a:r>
        </a:p>
      </dsp:txBody>
      <dsp:txXfrm>
        <a:off x="1955106" y="3842216"/>
        <a:ext cx="6288496" cy="1011863"/>
      </dsp:txXfrm>
    </dsp:sp>
    <dsp:sp modelId="{EBF08BCE-ACE6-4806-A045-0CBD4AB741EB}">
      <dsp:nvSpPr>
        <dsp:cNvPr id="0" name=""/>
        <dsp:cNvSpPr/>
      </dsp:nvSpPr>
      <dsp:spPr>
        <a:xfrm>
          <a:off x="6995871" y="823216"/>
          <a:ext cx="698635" cy="69863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7153064" y="823216"/>
        <a:ext cx="384249" cy="525723"/>
      </dsp:txXfrm>
    </dsp:sp>
    <dsp:sp modelId="{D6D0324C-96F3-4EC3-83CC-AB0499B5E509}">
      <dsp:nvSpPr>
        <dsp:cNvPr id="0" name=""/>
        <dsp:cNvSpPr/>
      </dsp:nvSpPr>
      <dsp:spPr>
        <a:xfrm>
          <a:off x="7640286" y="2093462"/>
          <a:ext cx="698635" cy="69863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2045920"/>
            <a:satOff val="22554"/>
            <a:lumOff val="2148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2045920"/>
              <a:satOff val="22554"/>
              <a:lumOff val="214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3300" kern="1200"/>
        </a:p>
      </dsp:txBody>
      <dsp:txXfrm>
        <a:off x="7797479" y="2093462"/>
        <a:ext cx="384249" cy="525723"/>
      </dsp:txXfrm>
    </dsp:sp>
    <dsp:sp modelId="{7EF20ED4-ABD1-4F6D-9487-8ECE69B398CB}">
      <dsp:nvSpPr>
        <dsp:cNvPr id="0" name=""/>
        <dsp:cNvSpPr/>
      </dsp:nvSpPr>
      <dsp:spPr>
        <a:xfrm>
          <a:off x="8275083" y="3363708"/>
          <a:ext cx="698635" cy="69863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4091839"/>
            <a:satOff val="45107"/>
            <a:lumOff val="4296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4091839"/>
              <a:satOff val="45107"/>
              <a:lumOff val="429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8432276" y="3363708"/>
        <a:ext cx="384249" cy="5257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202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20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656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5/22/2020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808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271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588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156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169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112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276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378776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8871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81280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5968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5/22/2020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562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087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875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  <p:sldLayoutId id="2147483783" r:id="rId13"/>
    <p:sldLayoutId id="2147483784" r:id="rId14"/>
    <p:sldLayoutId id="2147483785" r:id="rId15"/>
    <p:sldLayoutId id="214748378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42873" y="782782"/>
            <a:ext cx="9008254" cy="3410475"/>
          </a:xfrm>
        </p:spPr>
        <p:txBody>
          <a:bodyPr anchor="ctr">
            <a:normAutofit/>
          </a:bodyPr>
          <a:lstStyle/>
          <a:p>
            <a:r>
              <a:rPr lang="en-US" sz="6000">
                <a:latin typeface="Arial Black"/>
              </a:rPr>
              <a:t>PROJETO INTERDISCIPLINAR - 1ª SEMESTRE - 2020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4165" y="4709627"/>
            <a:ext cx="8956962" cy="11262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/>
                <a:cs typeface="Arial"/>
              </a:rPr>
              <a:t>Uber </a:t>
            </a:r>
            <a:r>
              <a:rPr lang="en-US" sz="5000" b="1" dirty="0">
                <a:solidFill>
                  <a:schemeClr val="tx1"/>
                </a:solidFill>
                <a:latin typeface="Arial Black"/>
                <a:cs typeface="Arial"/>
              </a:rPr>
              <a:t>- Life Out</a:t>
            </a:r>
          </a:p>
        </p:txBody>
      </p:sp>
    </p:spTree>
    <p:extLst>
      <p:ext uri="{BB962C8B-B14F-4D97-AF65-F5344CB8AC3E}">
        <p14:creationId xmlns:p14="http://schemas.microsoft.com/office/powerpoint/2010/main" val="3601082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85CB18-8024-4078-A6C7-B4DD88E19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500">
                <a:latin typeface="Arial Black"/>
              </a:rPr>
              <a:t>1. Introdução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C2886A-E024-4D73-BB60-8F839B13B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466474"/>
            <a:ext cx="9601200" cy="35814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sz="2000">
                <a:latin typeface="Arial"/>
                <a:cs typeface="Arial"/>
              </a:rPr>
              <a:t>A Uber é uma plataforma de dispositivo móvel para pessoas que procuram locomover durante seu dia a dia por toda a cidade com transportes privados que podem ser solicitados a qualquer momento, bastando apenas de um smartphone.</a:t>
            </a:r>
          </a:p>
          <a:p>
            <a:pPr marL="0" indent="0">
              <a:buNone/>
            </a:pPr>
            <a:r>
              <a:rPr lang="pt-BR" sz="2000">
                <a:latin typeface="Arial"/>
                <a:cs typeface="Arial"/>
              </a:rPr>
              <a:t>Os usuários são dois tipos: motoristas e passageiros. </a:t>
            </a:r>
          </a:p>
          <a:p>
            <a:pPr marL="0" indent="0">
              <a:buNone/>
            </a:pPr>
            <a:r>
              <a:rPr lang="pt-BR" sz="2000">
                <a:latin typeface="Arial"/>
                <a:cs typeface="Arial"/>
              </a:rPr>
              <a:t>Os passageiros são os solicitantes dos modelos de carros e corridas, podendo escolher determinadas formas de pagamento, enquanto os motoristas são os solicitados para realizar corridas.</a:t>
            </a:r>
          </a:p>
          <a:p>
            <a:pPr marL="0" indent="0">
              <a:buNone/>
            </a:pPr>
            <a:endParaRPr lang="pt-BR">
              <a:latin typeface="Arial"/>
              <a:cs typeface="Arial"/>
            </a:endParaRPr>
          </a:p>
          <a:p>
            <a:pPr marL="0" indent="0">
              <a:buNone/>
            </a:pPr>
            <a:endParaRPr lang="pt-BR">
              <a:latin typeface="Arial"/>
              <a:cs typeface="Arial"/>
            </a:endParaRPr>
          </a:p>
          <a:p>
            <a:pPr marL="0" indent="0">
              <a:buNone/>
            </a:pPr>
            <a:endParaRPr lang="pt-BR">
              <a:latin typeface="Arial"/>
              <a:cs typeface="Arial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6A7AA43-8F4A-443A-B9CE-AE5EA5B0FBEE}"/>
              </a:ext>
            </a:extLst>
          </p:cNvPr>
          <p:cNvSpPr txBox="1"/>
          <p:nvPr/>
        </p:nvSpPr>
        <p:spPr>
          <a:xfrm>
            <a:off x="1375611" y="1716505"/>
            <a:ext cx="383606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>
                <a:latin typeface="Arial Black"/>
                <a:cs typeface="Arial"/>
              </a:rPr>
              <a:t>1.1 Uber – O que é? </a:t>
            </a:r>
            <a:endParaRPr lang="pt-BR" sz="2400">
              <a:latin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593727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BA961A-06EE-4CCE-A1E5-C626BC5F6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5500">
                <a:latin typeface="Arial Black"/>
                <a:cs typeface="Arial"/>
              </a:rPr>
              <a:t>2. Desenvolvimento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D28097-B7D2-41E2-AD99-4EA2B4FCD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432687"/>
            <a:ext cx="9601200" cy="3581400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pt-BR" sz="2000">
                <a:latin typeface="Arial"/>
                <a:cs typeface="Arial"/>
              </a:rPr>
              <a:t>O nome Life Out surgiu da junção de 'Life' - Vida e 'Out' - Fora, demonstrando estarmos buscando uma transformação na vida das pessoas, fazendo com que elas saiam (para fora) das rotinas da vida que vivem, conseguindo entretenimento, relaxar e aproveitar o momento.</a:t>
            </a:r>
          </a:p>
          <a:p>
            <a:pPr marL="0" indent="0">
              <a:buNone/>
            </a:pPr>
            <a:r>
              <a:rPr lang="pt-BR" sz="2000">
                <a:latin typeface="Arial"/>
                <a:cs typeface="Arial"/>
              </a:rPr>
              <a:t>A criação do E-commerce Life Out fora baseada no aplicativo Uber, com o intuito de fazer as pessoas saírem da rotina, cansaço e monotonia da vida, não precisando utilizar somente a plataforma para ir da casa ao trabalho, escola ou faculdade, mas para também restaurantes, bares, hotéis, sorveterias, pubs, entre outros estabelecimentos presentes dentro da Plataforma e parceiras da empresa.</a:t>
            </a:r>
          </a:p>
          <a:p>
            <a:pPr marL="0" indent="0">
              <a:buNone/>
            </a:pPr>
            <a:endParaRPr lang="pt-BR" sz="2000">
              <a:latin typeface="Arial"/>
              <a:cs typeface="Arial"/>
            </a:endParaRPr>
          </a:p>
          <a:p>
            <a:pPr marL="0" indent="0">
              <a:buNone/>
            </a:pPr>
            <a:r>
              <a:rPr lang="pt-BR" sz="2000">
                <a:latin typeface="Arial"/>
                <a:cs typeface="Arial"/>
              </a:rPr>
              <a:t>Observação: Life Out é um E-commerce Web e Aplicativo, que possui funcionalidades como: </a:t>
            </a:r>
            <a:r>
              <a:rPr lang="pt-BR" sz="2000">
                <a:ea typeface="+mn-lt"/>
                <a:cs typeface="+mn-lt"/>
              </a:rPr>
              <a:t>- Adicionar produtos no carrinho - Reservar produtos - Efetuar pagamentos do comprador (recebimento da venda) - Registrar no site (front </a:t>
            </a:r>
            <a:r>
              <a:rPr lang="pt-BR" sz="2000" err="1">
                <a:ea typeface="+mn-lt"/>
                <a:cs typeface="+mn-lt"/>
              </a:rPr>
              <a:t>end</a:t>
            </a:r>
            <a:r>
              <a:rPr lang="pt-BR" sz="2000">
                <a:ea typeface="+mn-lt"/>
                <a:cs typeface="+mn-lt"/>
              </a:rPr>
              <a:t>) - Escolher tipo de entrega - Acompanhar o pedido</a:t>
            </a:r>
            <a:r>
              <a:rPr lang="pt-BR" sz="2000">
                <a:latin typeface="Trebuchet MS"/>
                <a:cs typeface="Arial"/>
              </a:rPr>
              <a:t>, pouco diferente, por sermos uma de Serviço Automobilístico.</a:t>
            </a:r>
            <a:r>
              <a:rPr lang="pt-BR" sz="2000">
                <a:latin typeface="Arial"/>
                <a:cs typeface="Arial"/>
              </a:rPr>
              <a:t> </a:t>
            </a:r>
          </a:p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A4F8E56-4855-4DC5-882C-75074C39E35A}"/>
              </a:ext>
            </a:extLst>
          </p:cNvPr>
          <p:cNvSpPr txBox="1"/>
          <p:nvPr/>
        </p:nvSpPr>
        <p:spPr>
          <a:xfrm>
            <a:off x="1375611" y="1776663"/>
            <a:ext cx="809725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>
                <a:latin typeface="Arial Black"/>
              </a:rPr>
              <a:t>2.1 Life Out –  Nome e Motivação da Criação </a:t>
            </a:r>
          </a:p>
        </p:txBody>
      </p:sp>
    </p:spTree>
    <p:extLst>
      <p:ext uri="{BB962C8B-B14F-4D97-AF65-F5344CB8AC3E}">
        <p14:creationId xmlns:p14="http://schemas.microsoft.com/office/powerpoint/2010/main" val="1079325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529D07-2F31-4850-A855-CB8AEA7ED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4486406" cy="410750"/>
          </a:xfrm>
        </p:spPr>
        <p:txBody>
          <a:bodyPr>
            <a:noAutofit/>
          </a:bodyPr>
          <a:lstStyle/>
          <a:p>
            <a:r>
              <a:rPr lang="pt-BR" sz="2400">
                <a:solidFill>
                  <a:schemeClr val="tx1"/>
                </a:solidFill>
                <a:latin typeface="Arial Black"/>
              </a:rPr>
              <a:t>2.2 Modelo de Negócios </a:t>
            </a:r>
            <a:endParaRPr lang="pt-BR" sz="2400">
              <a:solidFill>
                <a:schemeClr val="tx1"/>
              </a:solidFill>
            </a:endParaRPr>
          </a:p>
        </p:txBody>
      </p:sp>
      <p:pic>
        <p:nvPicPr>
          <p:cNvPr id="4" name="Imagem 4" descr="Tela de celular com texto preto sobre fundo branco&#10;&#10;Descrição gerada com alta confiança">
            <a:extLst>
              <a:ext uri="{FF2B5EF4-FFF2-40B4-BE49-F238E27FC236}">
                <a16:creationId xmlns:a16="http://schemas.microsoft.com/office/drawing/2014/main" id="{5F314BA7-8021-4026-82D7-4964BDDFBC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1017" y="1423325"/>
            <a:ext cx="5337618" cy="4458221"/>
          </a:xfrm>
        </p:spPr>
      </p:pic>
      <p:pic>
        <p:nvPicPr>
          <p:cNvPr id="6" name="Imagem 6" descr="Tela de celular com texto preto sobre fundo branco&#10;&#10;Descrição gerada com alta confiança">
            <a:extLst>
              <a:ext uri="{FF2B5EF4-FFF2-40B4-BE49-F238E27FC236}">
                <a16:creationId xmlns:a16="http://schemas.microsoft.com/office/drawing/2014/main" id="{018CE6DF-B450-47C4-9182-A9D87441D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425" y="1428234"/>
            <a:ext cx="5029199" cy="4460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164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E33B5F-61B9-46AD-8E86-21865D21A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03123"/>
            <a:ext cx="9601200" cy="35814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>
                <a:latin typeface="Arial"/>
                <a:cs typeface="Arial"/>
              </a:rPr>
              <a:t>Os Requisitos Funcionais (RF) e Não Funcionais (RNF) servem para entendermos como será o funcionamento do sistema (Funcionais) e o desempenho, usabilidade, velocidade, precisão, confiabilidade, disponibilidade, entre outros que são referentes a como o E-commerce deverá entregar as funcionalidades para os usuários (Não Funcionais).</a:t>
            </a:r>
          </a:p>
          <a:p>
            <a:pPr marL="0" indent="0">
              <a:buNone/>
            </a:pPr>
            <a:r>
              <a:rPr lang="pt-BR">
                <a:latin typeface="Arial"/>
                <a:cs typeface="Arial"/>
              </a:rPr>
              <a:t>Os Requisitos Funcionais Life Out comparados com o Uber em termos de Cadastrar, Editar, Solicitar Corrida e Finalizar corrida são os mesmos, claro que com novos requisitos, referentes a parceria com estabelecimentos, por exemplo. Segue exemplos de RN e RNF:</a:t>
            </a:r>
          </a:p>
          <a:p>
            <a:pPr marL="0" indent="0">
              <a:buNone/>
            </a:pPr>
            <a:endParaRPr lang="pt-BR" sz="1600">
              <a:latin typeface="Arial"/>
              <a:cs typeface="Arial"/>
            </a:endParaRPr>
          </a:p>
          <a:p>
            <a:pPr marL="0" indent="0">
              <a:buNone/>
            </a:pPr>
            <a:endParaRPr lang="pt-BR" sz="1600">
              <a:latin typeface="Arial"/>
              <a:cs typeface="Arial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1304B72-6513-4AB2-B934-A78473B81A48}"/>
              </a:ext>
            </a:extLst>
          </p:cNvPr>
          <p:cNvSpPr txBox="1"/>
          <p:nvPr/>
        </p:nvSpPr>
        <p:spPr>
          <a:xfrm>
            <a:off x="1373688" y="705633"/>
            <a:ext cx="839034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dirty="0">
                <a:latin typeface="Arial Black"/>
              </a:rPr>
              <a:t>2.3 Requisitos Funcionais e Não Funcionais</a:t>
            </a:r>
          </a:p>
        </p:txBody>
      </p:sp>
      <p:pic>
        <p:nvPicPr>
          <p:cNvPr id="7" name="Imagem 7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24C345B9-0D54-4DCE-90BF-F46A6B265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471" y="3774640"/>
            <a:ext cx="2324100" cy="895350"/>
          </a:xfrm>
          <a:prstGeom prst="rect">
            <a:avLst/>
          </a:prstGeom>
        </p:spPr>
      </p:pic>
      <p:pic>
        <p:nvPicPr>
          <p:cNvPr id="9" name="Imagem 9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ECE778F-1C9C-4B63-9F8F-5B1D470BC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316" y="3775748"/>
            <a:ext cx="2314575" cy="893132"/>
          </a:xfrm>
          <a:prstGeom prst="rect">
            <a:avLst/>
          </a:prstGeom>
        </p:spPr>
      </p:pic>
      <p:pic>
        <p:nvPicPr>
          <p:cNvPr id="11" name="Imagem 11" descr="Tela de celular com texto preto sobre fundo branco&#10;&#10;Descrição gerada com alta confiança">
            <a:extLst>
              <a:ext uri="{FF2B5EF4-FFF2-40B4-BE49-F238E27FC236}">
                <a16:creationId xmlns:a16="http://schemas.microsoft.com/office/drawing/2014/main" id="{965ED0F1-F1B3-4B53-8243-27EBACF431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0443" y="3778881"/>
            <a:ext cx="2324100" cy="886868"/>
          </a:xfrm>
          <a:prstGeom prst="rect">
            <a:avLst/>
          </a:prstGeom>
        </p:spPr>
      </p:pic>
      <p:pic>
        <p:nvPicPr>
          <p:cNvPr id="13" name="Imagem 13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A98D7AE6-831E-4E44-9CB6-82624FE378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143" y="5084393"/>
            <a:ext cx="2325795" cy="78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072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1902D50A-3323-4A86-BD79-21905C8E7710}"/>
              </a:ext>
            </a:extLst>
          </p:cNvPr>
          <p:cNvSpPr txBox="1"/>
          <p:nvPr/>
        </p:nvSpPr>
        <p:spPr>
          <a:xfrm>
            <a:off x="638606" y="236951"/>
            <a:ext cx="7848179" cy="148590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defTabSz="914400">
              <a:lnSpc>
                <a:spcPct val="89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dirty="0">
                <a:solidFill>
                  <a:schemeClr val="tx2"/>
                </a:solidFill>
                <a:latin typeface="Arial Black"/>
                <a:ea typeface="+mj-ea"/>
                <a:cs typeface="+mj-cs"/>
              </a:rPr>
              <a:t>2.4 </a:t>
            </a:r>
            <a:r>
              <a:rPr lang="en-US" sz="2400" dirty="0" err="1">
                <a:solidFill>
                  <a:schemeClr val="tx2"/>
                </a:solidFill>
                <a:latin typeface="Arial Black"/>
                <a:ea typeface="+mj-ea"/>
                <a:cs typeface="+mj-cs"/>
              </a:rPr>
              <a:t>ArgoUML</a:t>
            </a:r>
            <a:r>
              <a:rPr lang="en-US" sz="2400" dirty="0">
                <a:solidFill>
                  <a:schemeClr val="tx2"/>
                </a:solidFill>
                <a:latin typeface="Arial Black"/>
                <a:ea typeface="+mj-ea"/>
                <a:cs typeface="+mj-cs"/>
              </a:rPr>
              <a:t>  - </a:t>
            </a:r>
            <a:r>
              <a:rPr lang="en-US" sz="2400" dirty="0" err="1">
                <a:solidFill>
                  <a:schemeClr val="tx2"/>
                </a:solidFill>
                <a:latin typeface="Arial Black"/>
                <a:ea typeface="+mj-ea"/>
                <a:cs typeface="+mj-cs"/>
              </a:rPr>
              <a:t>Casos</a:t>
            </a:r>
            <a:r>
              <a:rPr lang="en-US" sz="2400" dirty="0">
                <a:solidFill>
                  <a:schemeClr val="tx2"/>
                </a:solidFill>
                <a:latin typeface="Arial Black"/>
                <a:ea typeface="+mj-ea"/>
                <a:cs typeface="+mj-cs"/>
              </a:rPr>
              <a:t> de </a:t>
            </a:r>
            <a:r>
              <a:rPr lang="en-US" sz="2400" dirty="0" err="1">
                <a:solidFill>
                  <a:schemeClr val="tx2"/>
                </a:solidFill>
                <a:latin typeface="Arial Black"/>
                <a:ea typeface="+mj-ea"/>
                <a:cs typeface="+mj-cs"/>
              </a:rPr>
              <a:t>Uso</a:t>
            </a:r>
            <a:r>
              <a:rPr lang="en-US" sz="2400" dirty="0">
                <a:solidFill>
                  <a:schemeClr val="tx2"/>
                </a:solidFill>
                <a:latin typeface="Arial Black"/>
                <a:ea typeface="+mj-ea"/>
                <a:cs typeface="+mj-cs"/>
              </a:rPr>
              <a:t> Geral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F30F6DF-822E-482C-8C3F-44C1F226794B}"/>
              </a:ext>
            </a:extLst>
          </p:cNvPr>
          <p:cNvSpPr txBox="1"/>
          <p:nvPr/>
        </p:nvSpPr>
        <p:spPr>
          <a:xfrm>
            <a:off x="279172" y="3886023"/>
            <a:ext cx="11192195" cy="279104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83540" indent="-383540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</a:pPr>
            <a:endParaRPr lang="en-US">
              <a:solidFill>
                <a:schemeClr val="tx2"/>
              </a:solidFill>
              <a:latin typeface="Arial"/>
              <a:cs typeface="Arial"/>
            </a:endParaRPr>
          </a:p>
        </p:txBody>
      </p:sp>
      <p:sp>
        <p:nvSpPr>
          <p:cNvPr id="13" name="Espaço Reservado para Conteúdo 12">
            <a:extLst>
              <a:ext uri="{FF2B5EF4-FFF2-40B4-BE49-F238E27FC236}">
                <a16:creationId xmlns:a16="http://schemas.microsoft.com/office/drawing/2014/main" id="{7371AD01-5F29-4637-AD38-829B59545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202" y="981646"/>
            <a:ext cx="8596668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/>
              <a:t> 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82A7D85-9D96-4F38-970E-4E1B0C5AE597}"/>
              </a:ext>
            </a:extLst>
          </p:cNvPr>
          <p:cNvSpPr txBox="1"/>
          <p:nvPr/>
        </p:nvSpPr>
        <p:spPr>
          <a:xfrm>
            <a:off x="698740" y="3890513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DEAF722-C52D-417E-AF5D-6240B2F64FF0}"/>
              </a:ext>
            </a:extLst>
          </p:cNvPr>
          <p:cNvSpPr txBox="1"/>
          <p:nvPr/>
        </p:nvSpPr>
        <p:spPr>
          <a:xfrm>
            <a:off x="640332" y="4076521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BR"/>
          </a:p>
        </p:txBody>
      </p:sp>
      <p:pic>
        <p:nvPicPr>
          <p:cNvPr id="3" name="Imagem 4" descr="Tela de computador com texto preto sobre fundo branco&#10;&#10;Descrição gerada com alta confiança">
            <a:extLst>
              <a:ext uri="{FF2B5EF4-FFF2-40B4-BE49-F238E27FC236}">
                <a16:creationId xmlns:a16="http://schemas.microsoft.com/office/drawing/2014/main" id="{1B5EC1AA-F831-44C8-8C0C-54809854D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230" y="984993"/>
            <a:ext cx="8724179" cy="207005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A89F8F6-253F-460B-8CB5-26C3D0277DBB}"/>
              </a:ext>
            </a:extLst>
          </p:cNvPr>
          <p:cNvSpPr txBox="1"/>
          <p:nvPr/>
        </p:nvSpPr>
        <p:spPr>
          <a:xfrm>
            <a:off x="641230" y="3099758"/>
            <a:ext cx="872418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/>
              <a:t>Primeiros vamos dar uma olhada no Dono: o Dono é quem comanda toda a empresa. Então vamos dar uma olhada à quem ele comanda.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1734CCC-AD45-4225-8233-72F82C87D958}"/>
              </a:ext>
            </a:extLst>
          </p:cNvPr>
          <p:cNvSpPr txBox="1"/>
          <p:nvPr/>
        </p:nvSpPr>
        <p:spPr>
          <a:xfrm>
            <a:off x="639433" y="5944678"/>
            <a:ext cx="859478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/>
              <a:t>Podemos ver que ele dá ordens para o motorista e </a:t>
            </a:r>
            <a:r>
              <a:rPr lang="pt-BR" err="1"/>
              <a:t>alé</a:t>
            </a:r>
            <a:r>
              <a:rPr lang="pt-BR"/>
              <a:t> disso o Dono dá ordens para mais alguem. E além disso podemos que uma pessoa depende do Motorista</a:t>
            </a:r>
          </a:p>
        </p:txBody>
      </p:sp>
      <p:pic>
        <p:nvPicPr>
          <p:cNvPr id="5" name="Imagem 6" descr="Tela de celular com texto preto sobre fundo branco&#10;&#10;Descrição gerada com alta confiança">
            <a:extLst>
              <a:ext uri="{FF2B5EF4-FFF2-40B4-BE49-F238E27FC236}">
                <a16:creationId xmlns:a16="http://schemas.microsoft.com/office/drawing/2014/main" id="{3F86F761-1A44-483C-AAAE-68ADB19C76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872" y="3841541"/>
            <a:ext cx="8609161" cy="2036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312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A941159B-CA2D-496F-804E-FB27581D7768}"/>
              </a:ext>
            </a:extLst>
          </p:cNvPr>
          <p:cNvSpPr txBox="1"/>
          <p:nvPr/>
        </p:nvSpPr>
        <p:spPr>
          <a:xfrm>
            <a:off x="209909" y="3157268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64157D9-0031-421A-ACE9-2FD3BADF6EBA}"/>
              </a:ext>
            </a:extLst>
          </p:cNvPr>
          <p:cNvSpPr txBox="1"/>
          <p:nvPr/>
        </p:nvSpPr>
        <p:spPr>
          <a:xfrm>
            <a:off x="209909" y="3157268"/>
            <a:ext cx="9083616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/>
              <a:t>O Dono também dará ordens para o Trabalho Interno na qual o Dono dá ordens de enviar os pedidos para os motorista </a:t>
            </a:r>
            <a:r>
              <a:rPr lang="pt-BR"/>
              <a:t>próximos</a:t>
            </a:r>
            <a:r>
              <a:rPr lang="pt-BR" dirty="0"/>
              <a:t> o pedido de viagem.</a:t>
            </a:r>
          </a:p>
          <a:p>
            <a:r>
              <a:rPr lang="pt-BR"/>
              <a:t>Também podemos ver que o Motorista. Além disso podemos ver que quem denpende do Motorista são os Passageiros que para poderem fazerem suas viagens precisam primeiro:</a:t>
            </a:r>
          </a:p>
          <a:p>
            <a:pPr marL="285750" indent="-285750">
              <a:buFont typeface="Wingdings"/>
              <a:buChar char="§"/>
            </a:pPr>
            <a:r>
              <a:rPr lang="pt-BR" b="1"/>
              <a:t>Se cadastrar ou logarem no aplicativo;</a:t>
            </a:r>
          </a:p>
          <a:p>
            <a:pPr marL="285750" indent="-285750">
              <a:buFont typeface="Wingdings"/>
              <a:buChar char="§"/>
            </a:pPr>
            <a:r>
              <a:rPr lang="pt-BR" b="1"/>
              <a:t>Indicar um local de encontro e um local de encontro de saída (Quando o trabalhador interno entra);</a:t>
            </a:r>
          </a:p>
          <a:p>
            <a:pPr marL="285750" indent="-285750">
              <a:buFont typeface="Wingdings"/>
              <a:buChar char="§"/>
            </a:pPr>
            <a:r>
              <a:rPr lang="pt-BR" b="1"/>
              <a:t>Esperar pelo Motorista próximo (onde o trabalhador interno finaliza);</a:t>
            </a:r>
          </a:p>
          <a:p>
            <a:pPr marL="285750" indent="-285750">
              <a:buFont typeface="Wingdings"/>
              <a:buChar char="§"/>
            </a:pPr>
            <a:r>
              <a:rPr lang="pt-BR" b="1"/>
              <a:t>Ao acabar a viagem page o motorista </a:t>
            </a:r>
          </a:p>
          <a:p>
            <a:pPr marL="285750" indent="-285750">
              <a:buFont typeface="Wingdings"/>
              <a:buChar char="§"/>
            </a:pPr>
            <a:endParaRPr lang="pt-BR" b="1"/>
          </a:p>
        </p:txBody>
      </p:sp>
      <p:pic>
        <p:nvPicPr>
          <p:cNvPr id="9" name="Imagem 9" descr="Tela de celular com texto preto sobre fundo branco&#10;&#10;Descrição gerada com alta confiança">
            <a:extLst>
              <a:ext uri="{FF2B5EF4-FFF2-40B4-BE49-F238E27FC236}">
                <a16:creationId xmlns:a16="http://schemas.microsoft.com/office/drawing/2014/main" id="{2957BAF3-24F9-4DE8-8AF3-554EA608A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09" y="639515"/>
            <a:ext cx="9083614" cy="2243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458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285663-8D36-4D23-9780-3B426B4C2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95247"/>
            <a:ext cx="9654237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sz="2000">
                <a:latin typeface="Arial"/>
                <a:cs typeface="Arial"/>
              </a:rPr>
              <a:t>Os Casos de Uso Expandido é um passo a passo que o passageiro irá seguir para conseguir usar o E-commerce, solicitar corridas e chegar ao seu destino (no nosso caso).</a:t>
            </a:r>
            <a:endParaRPr lang="en-US" sz="2000">
              <a:latin typeface="Arial"/>
              <a:ea typeface="+mn-lt"/>
              <a:cs typeface="Arial"/>
            </a:endParaRPr>
          </a:p>
          <a:p>
            <a:pPr marL="0" indent="0">
              <a:buNone/>
            </a:pPr>
            <a:r>
              <a:rPr lang="pt-BR" sz="2000">
                <a:latin typeface="Arial"/>
                <a:cs typeface="Arial"/>
              </a:rPr>
              <a:t>A descrição feita pelos Casos Expandidos são em relação ao comportamento, e não como serão implementados na Plataforma.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E2D62FF-F891-4C17-8FF5-12E243FEBB52}"/>
              </a:ext>
            </a:extLst>
          </p:cNvPr>
          <p:cNvSpPr txBox="1"/>
          <p:nvPr/>
        </p:nvSpPr>
        <p:spPr>
          <a:xfrm>
            <a:off x="673769" y="784058"/>
            <a:ext cx="578117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000" dirty="0">
                <a:latin typeface="Arial Black"/>
                <a:cs typeface="Arial"/>
              </a:rPr>
              <a:t>2.5 </a:t>
            </a:r>
            <a:r>
              <a:rPr lang="pt-BR" sz="2000" dirty="0" err="1">
                <a:latin typeface="Arial Black"/>
                <a:cs typeface="Arial"/>
              </a:rPr>
              <a:t>ArgoUML</a:t>
            </a:r>
            <a:r>
              <a:rPr lang="pt-BR" sz="2000" dirty="0">
                <a:latin typeface="Arial Black"/>
                <a:cs typeface="Arial"/>
              </a:rPr>
              <a:t> – Casos de Uso Expandido</a:t>
            </a:r>
          </a:p>
        </p:txBody>
      </p:sp>
    </p:spTree>
    <p:extLst>
      <p:ext uri="{BB962C8B-B14F-4D97-AF65-F5344CB8AC3E}">
        <p14:creationId xmlns:p14="http://schemas.microsoft.com/office/powerpoint/2010/main" val="244937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A35955E-B63D-42D5-B9E3-EEE9DA15B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34" y="1382486"/>
            <a:ext cx="4490054" cy="4093028"/>
          </a:xfrm>
        </p:spPr>
        <p:txBody>
          <a:bodyPr anchor="ctr">
            <a:normAutofit/>
          </a:bodyPr>
          <a:lstStyle/>
          <a:p>
            <a:r>
              <a:rPr lang="pt-BR" sz="2400" b="1">
                <a:solidFill>
                  <a:schemeClr val="tx1"/>
                </a:solidFill>
                <a:latin typeface="Arial Black"/>
              </a:rPr>
              <a:t>Detalhamento de Exemplo de Caso de Uso Expandido - Corrida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267" y="-8467"/>
            <a:ext cx="4766733" cy="6866467"/>
            <a:chOff x="7425267" y="-8467"/>
            <a:chExt cx="4766733" cy="68664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77719" y="0"/>
            <a:ext cx="621428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EBED7760-8825-42A6-9FC4-3407EC9DE5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522407"/>
              </p:ext>
            </p:extLst>
          </p:nvPr>
        </p:nvGraphicFramePr>
        <p:xfrm>
          <a:off x="4916553" y="944563"/>
          <a:ext cx="6628804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65482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5520BA35-36B8-44D4-9E7E-29FCAE8642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4030105"/>
              </p:ext>
            </p:extLst>
          </p:nvPr>
        </p:nvGraphicFramePr>
        <p:xfrm>
          <a:off x="1286933" y="1066227"/>
          <a:ext cx="9618133" cy="4885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4787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Tela de celular&#10;&#10;Descrição gerada com alta confiança">
            <a:extLst>
              <a:ext uri="{FF2B5EF4-FFF2-40B4-BE49-F238E27FC236}">
                <a16:creationId xmlns:a16="http://schemas.microsoft.com/office/drawing/2014/main" id="{F13023FA-A96A-4015-B174-6BCFF44D29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22412" y="1604610"/>
            <a:ext cx="3699644" cy="5083930"/>
          </a:xfr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F1B930F-37A2-4838-ABD3-7B3F7E912222}"/>
              </a:ext>
            </a:extLst>
          </p:cNvPr>
          <p:cNvSpPr txBox="1"/>
          <p:nvPr/>
        </p:nvSpPr>
        <p:spPr>
          <a:xfrm>
            <a:off x="4794584" y="905747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/>
              <a:t>Início - App</a:t>
            </a:r>
            <a:endParaRPr lang="pt-BR" b="1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9AE2E2F-00A1-4062-9A51-E729550D0161}"/>
              </a:ext>
            </a:extLst>
          </p:cNvPr>
          <p:cNvSpPr txBox="1"/>
          <p:nvPr/>
        </p:nvSpPr>
        <p:spPr>
          <a:xfrm>
            <a:off x="1415441" y="663879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000">
                <a:latin typeface="Arial Black"/>
              </a:rPr>
              <a:t>2.6 Design</a:t>
            </a:r>
          </a:p>
        </p:txBody>
      </p:sp>
    </p:spTree>
    <p:extLst>
      <p:ext uri="{BB962C8B-B14F-4D97-AF65-F5344CB8AC3E}">
        <p14:creationId xmlns:p14="http://schemas.microsoft.com/office/powerpoint/2010/main" val="1932880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F76F425A-5296-4C4E-BF82-74162E29D836}"/>
              </a:ext>
            </a:extLst>
          </p:cNvPr>
          <p:cNvSpPr txBox="1"/>
          <p:nvPr/>
        </p:nvSpPr>
        <p:spPr>
          <a:xfrm>
            <a:off x="4724399" y="483269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/>
              <a:t>Cadastro - App</a:t>
            </a:r>
          </a:p>
        </p:txBody>
      </p:sp>
      <p:pic>
        <p:nvPicPr>
          <p:cNvPr id="2" name="Imagem 2" descr="Tela de celular&#10;&#10;Descrição gerada com alta confiança">
            <a:extLst>
              <a:ext uri="{FF2B5EF4-FFF2-40B4-BE49-F238E27FC236}">
                <a16:creationId xmlns:a16="http://schemas.microsoft.com/office/drawing/2014/main" id="{F2A6EAC5-7090-4970-B8C6-E86415186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979" y="1058449"/>
            <a:ext cx="3649906" cy="579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4737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Tela de celular com texto preto sobre fundo branco&#10;&#10;Descrição gerada com alta confiança">
            <a:extLst>
              <a:ext uri="{FF2B5EF4-FFF2-40B4-BE49-F238E27FC236}">
                <a16:creationId xmlns:a16="http://schemas.microsoft.com/office/drawing/2014/main" id="{10798B2B-98B2-494F-ADD6-1DDFF875AA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0664" y="1127879"/>
            <a:ext cx="6784244" cy="5204246"/>
          </a:xfr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A602EEFB-59B8-4BC8-962C-5AB0536FCAD5}"/>
              </a:ext>
            </a:extLst>
          </p:cNvPr>
          <p:cNvSpPr txBox="1"/>
          <p:nvPr/>
        </p:nvSpPr>
        <p:spPr>
          <a:xfrm>
            <a:off x="4724400" y="53340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/>
              <a:t>Passageiro - App</a:t>
            </a:r>
          </a:p>
        </p:txBody>
      </p:sp>
    </p:spTree>
    <p:extLst>
      <p:ext uri="{BB962C8B-B14F-4D97-AF65-F5344CB8AC3E}">
        <p14:creationId xmlns:p14="http://schemas.microsoft.com/office/powerpoint/2010/main" val="163345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Tela de celular com publicação numa rede social&#10;&#10;Descrição gerada com alta confiança">
            <a:extLst>
              <a:ext uri="{FF2B5EF4-FFF2-40B4-BE49-F238E27FC236}">
                <a16:creationId xmlns:a16="http://schemas.microsoft.com/office/drawing/2014/main" id="{17873D5F-F241-4946-B250-3A99CBA2AC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4672" y="1117853"/>
            <a:ext cx="6274807" cy="4923509"/>
          </a:xfr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CB1FE940-EC42-44BC-BBAF-6F25ECDE77D3}"/>
              </a:ext>
            </a:extLst>
          </p:cNvPr>
          <p:cNvSpPr txBox="1"/>
          <p:nvPr/>
        </p:nvSpPr>
        <p:spPr>
          <a:xfrm>
            <a:off x="4142873" y="513347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/>
              <a:t>Perfil Usuário - App</a:t>
            </a:r>
          </a:p>
        </p:txBody>
      </p:sp>
    </p:spTree>
    <p:extLst>
      <p:ext uri="{BB962C8B-B14F-4D97-AF65-F5344CB8AC3E}">
        <p14:creationId xmlns:p14="http://schemas.microsoft.com/office/powerpoint/2010/main" val="3914013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Tela de celular com publicação numa rede social&#10;&#10;Descrição gerada com alta confiança">
            <a:extLst>
              <a:ext uri="{FF2B5EF4-FFF2-40B4-BE49-F238E27FC236}">
                <a16:creationId xmlns:a16="http://schemas.microsoft.com/office/drawing/2014/main" id="{0F49583E-DE4C-4FD6-A8B7-39396E1209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1570" y="967458"/>
            <a:ext cx="6292143" cy="5234325"/>
          </a:xfr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7C8F39C5-71B4-45C6-97FE-95107876B482}"/>
              </a:ext>
            </a:extLst>
          </p:cNvPr>
          <p:cNvSpPr txBox="1"/>
          <p:nvPr/>
        </p:nvSpPr>
        <p:spPr>
          <a:xfrm>
            <a:off x="4353426" y="403058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/>
              <a:t>Estabelecimento - App</a:t>
            </a:r>
          </a:p>
        </p:txBody>
      </p:sp>
    </p:spTree>
    <p:extLst>
      <p:ext uri="{BB962C8B-B14F-4D97-AF65-F5344CB8AC3E}">
        <p14:creationId xmlns:p14="http://schemas.microsoft.com/office/powerpoint/2010/main" val="27855576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Tela de celular com publicação numa rede social&#10;&#10;Descrição gerada com alta confiança">
            <a:extLst>
              <a:ext uri="{FF2B5EF4-FFF2-40B4-BE49-F238E27FC236}">
                <a16:creationId xmlns:a16="http://schemas.microsoft.com/office/drawing/2014/main" id="{78A84347-034E-407A-860E-583F3EEE7D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9530" y="1010035"/>
            <a:ext cx="7113104" cy="5542805"/>
          </a:xfr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74EDF8B4-2121-4117-966B-9B81071C934C}"/>
              </a:ext>
            </a:extLst>
          </p:cNvPr>
          <p:cNvSpPr txBox="1"/>
          <p:nvPr/>
        </p:nvSpPr>
        <p:spPr>
          <a:xfrm>
            <a:off x="4718769" y="39262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pt-BR" b="1"/>
              <a:t>Motorista - App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95337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4" descr="Uma imagem contendo screenshot, texto&#10;&#10;Descrição gerada com muito alta confiança">
            <a:extLst>
              <a:ext uri="{FF2B5EF4-FFF2-40B4-BE49-F238E27FC236}">
                <a16:creationId xmlns:a16="http://schemas.microsoft.com/office/drawing/2014/main" id="{CF81F436-9F31-4BB1-BC28-7711545200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7883" y="1339406"/>
            <a:ext cx="10200743" cy="5188906"/>
          </a:xfr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C7DE8E0E-31F1-4ACB-BD97-453F0A1C11B7}"/>
              </a:ext>
            </a:extLst>
          </p:cNvPr>
          <p:cNvSpPr txBox="1"/>
          <p:nvPr/>
        </p:nvSpPr>
        <p:spPr>
          <a:xfrm>
            <a:off x="1375611" y="401410"/>
            <a:ext cx="274319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dirty="0">
                <a:latin typeface="Arial Black"/>
              </a:rPr>
              <a:t>2.7 </a:t>
            </a:r>
            <a:r>
              <a:rPr lang="pt-BR" sz="2400" dirty="0" err="1">
                <a:latin typeface="Arial Black"/>
              </a:rPr>
              <a:t>Bizagi</a:t>
            </a:r>
            <a:r>
              <a:rPr lang="pt-BR" sz="2400" dirty="0">
                <a:latin typeface="Arial Black"/>
              </a:rPr>
              <a:t> 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D081C27-9552-4497-A368-62A69B00C0D5}"/>
              </a:ext>
            </a:extLst>
          </p:cNvPr>
          <p:cNvSpPr txBox="1"/>
          <p:nvPr/>
        </p:nvSpPr>
        <p:spPr>
          <a:xfrm>
            <a:off x="5444647" y="736948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b="1"/>
              <a:t>Cadastro</a:t>
            </a:r>
          </a:p>
        </p:txBody>
      </p:sp>
    </p:spTree>
    <p:extLst>
      <p:ext uri="{BB962C8B-B14F-4D97-AF65-F5344CB8AC3E}">
        <p14:creationId xmlns:p14="http://schemas.microsoft.com/office/powerpoint/2010/main" val="37434739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texto, screenshot&#10;&#10;Descrição gerada com muito alta confiança">
            <a:extLst>
              <a:ext uri="{FF2B5EF4-FFF2-40B4-BE49-F238E27FC236}">
                <a16:creationId xmlns:a16="http://schemas.microsoft.com/office/drawing/2014/main" id="{442FE242-8DBE-4A43-88F0-92B6030EAA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6495" y="938065"/>
            <a:ext cx="10076097" cy="5310827"/>
          </a:xfrm>
        </p:spPr>
      </p:pic>
    </p:spTree>
    <p:extLst>
      <p:ext uri="{BB962C8B-B14F-4D97-AF65-F5344CB8AC3E}">
        <p14:creationId xmlns:p14="http://schemas.microsoft.com/office/powerpoint/2010/main" val="18246186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5" descr="Tela de celular com publicação numa rede social&#10;&#10;Descrição gerada com alta confiança">
            <a:extLst>
              <a:ext uri="{FF2B5EF4-FFF2-40B4-BE49-F238E27FC236}">
                <a16:creationId xmlns:a16="http://schemas.microsoft.com/office/drawing/2014/main" id="{B416FFE6-905E-4CF1-95D2-62D84B4D7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85" y="952536"/>
            <a:ext cx="11949827" cy="4869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5640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Tela de celular com texto preto sobre fundo branco&#10;&#10;Descrição gerada com alta confiança">
            <a:extLst>
              <a:ext uri="{FF2B5EF4-FFF2-40B4-BE49-F238E27FC236}">
                <a16:creationId xmlns:a16="http://schemas.microsoft.com/office/drawing/2014/main" id="{1A0D290D-4BEA-4CBA-BBE8-EDB278183D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7925" y="667906"/>
            <a:ext cx="10510881" cy="6062388"/>
          </a:xfr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5156721B-285B-43E5-BECB-AD595D3BC0C5}"/>
              </a:ext>
            </a:extLst>
          </p:cNvPr>
          <p:cNvSpPr txBox="1"/>
          <p:nvPr/>
        </p:nvSpPr>
        <p:spPr>
          <a:xfrm>
            <a:off x="5559469" y="235907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b="1"/>
              <a:t>Viagem</a:t>
            </a:r>
          </a:p>
        </p:txBody>
      </p:sp>
    </p:spTree>
    <p:extLst>
      <p:ext uri="{BB962C8B-B14F-4D97-AF65-F5344CB8AC3E}">
        <p14:creationId xmlns:p14="http://schemas.microsoft.com/office/powerpoint/2010/main" val="26143689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5" descr="Uma imagem contendo texto, screenshot&#10;&#10;Descrição gerada com muito alta confiança">
            <a:extLst>
              <a:ext uri="{FF2B5EF4-FFF2-40B4-BE49-F238E27FC236}">
                <a16:creationId xmlns:a16="http://schemas.microsoft.com/office/drawing/2014/main" id="{62BC947D-4915-4294-9C7B-05FE6A739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89" y="502044"/>
            <a:ext cx="11240019" cy="6062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3554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Tela de celular com texto preto sobre fundo branco&#10;&#10;Descrição gerada com alta confiança">
            <a:extLst>
              <a:ext uri="{FF2B5EF4-FFF2-40B4-BE49-F238E27FC236}">
                <a16:creationId xmlns:a16="http://schemas.microsoft.com/office/drawing/2014/main" id="{E819FFBB-4A99-4F5A-98CA-81D76F149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044" y="2004283"/>
            <a:ext cx="9914350" cy="3173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4834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screenshot&#10;&#10;Descrição gerada com muito alta confiança">
            <a:extLst>
              <a:ext uri="{FF2B5EF4-FFF2-40B4-BE49-F238E27FC236}">
                <a16:creationId xmlns:a16="http://schemas.microsoft.com/office/drawing/2014/main" id="{0BA24B05-19D6-4E04-ABA9-F6EC6F65AC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8624" y="1584096"/>
            <a:ext cx="8664488" cy="3689958"/>
          </a:xfrm>
        </p:spPr>
      </p:pic>
    </p:spTree>
    <p:extLst>
      <p:ext uri="{BB962C8B-B14F-4D97-AF65-F5344CB8AC3E}">
        <p14:creationId xmlns:p14="http://schemas.microsoft.com/office/powerpoint/2010/main" val="13513922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7" descr="Tela de celular com texto preto sobre fundo branco&#10;&#10;Descrição gerada com alta confiança">
            <a:extLst>
              <a:ext uri="{FF2B5EF4-FFF2-40B4-BE49-F238E27FC236}">
                <a16:creationId xmlns:a16="http://schemas.microsoft.com/office/drawing/2014/main" id="{3F37A8BE-4B66-42A5-811F-0629AC88BE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7115" y="1183818"/>
            <a:ext cx="8131342" cy="4300286"/>
          </a:xfrm>
        </p:spPr>
      </p:pic>
    </p:spTree>
    <p:extLst>
      <p:ext uri="{BB962C8B-B14F-4D97-AF65-F5344CB8AC3E}">
        <p14:creationId xmlns:p14="http://schemas.microsoft.com/office/powerpoint/2010/main" val="42623805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Tela de celular com texto preto sobre fundo branco&#10;&#10;Descrição gerada com alta confiança">
            <a:extLst>
              <a:ext uri="{FF2B5EF4-FFF2-40B4-BE49-F238E27FC236}">
                <a16:creationId xmlns:a16="http://schemas.microsoft.com/office/drawing/2014/main" id="{08712236-3AE4-4F9F-B6D7-A8956F3DAA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2546" y="1097800"/>
            <a:ext cx="7979637" cy="4412167"/>
          </a:xfrm>
        </p:spPr>
      </p:pic>
    </p:spTree>
    <p:extLst>
      <p:ext uri="{BB962C8B-B14F-4D97-AF65-F5344CB8AC3E}">
        <p14:creationId xmlns:p14="http://schemas.microsoft.com/office/powerpoint/2010/main" val="2095083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9" descr="Tela de celular com texto preto sobre fundo branco&#10;&#10;Descrição gerada com alta confiança">
            <a:extLst>
              <a:ext uri="{FF2B5EF4-FFF2-40B4-BE49-F238E27FC236}">
                <a16:creationId xmlns:a16="http://schemas.microsoft.com/office/drawing/2014/main" id="{61111403-F05E-4E22-A248-7F472A1386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3826" y="1616863"/>
            <a:ext cx="11039244" cy="3966143"/>
          </a:xfr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9C70796F-4F22-41C6-9C7C-1DCF18C9CB2F}"/>
              </a:ext>
            </a:extLst>
          </p:cNvPr>
          <p:cNvSpPr txBox="1"/>
          <p:nvPr/>
        </p:nvSpPr>
        <p:spPr>
          <a:xfrm>
            <a:off x="5538592" y="903962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b="1"/>
              <a:t>Editar</a:t>
            </a:r>
          </a:p>
        </p:txBody>
      </p:sp>
    </p:spTree>
    <p:extLst>
      <p:ext uri="{BB962C8B-B14F-4D97-AF65-F5344CB8AC3E}">
        <p14:creationId xmlns:p14="http://schemas.microsoft.com/office/powerpoint/2010/main" val="2821353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10" descr="Uma imagem contendo screenshot&#10;&#10;Descrição gerada com muito alta confiança">
            <a:extLst>
              <a:ext uri="{FF2B5EF4-FFF2-40B4-BE49-F238E27FC236}">
                <a16:creationId xmlns:a16="http://schemas.microsoft.com/office/drawing/2014/main" id="{103B4818-486B-4C44-A8E9-6E63609A5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196" y="399666"/>
            <a:ext cx="10551088" cy="616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0691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11" descr="Uma imagem contendo texto, screenshot&#10;&#10;Descrição gerada com muito alta confiança">
            <a:extLst>
              <a:ext uri="{FF2B5EF4-FFF2-40B4-BE49-F238E27FC236}">
                <a16:creationId xmlns:a16="http://schemas.microsoft.com/office/drawing/2014/main" id="{31E8F8DF-168C-4D6C-AA21-1E06B3194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23" y="1479318"/>
            <a:ext cx="11928953" cy="3899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6121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6" descr="Tela de celular com texto preto sobre fundo branco&#10;&#10;Descrição gerada com alta confiança">
            <a:extLst>
              <a:ext uri="{FF2B5EF4-FFF2-40B4-BE49-F238E27FC236}">
                <a16:creationId xmlns:a16="http://schemas.microsoft.com/office/drawing/2014/main" id="{232AA8CB-2956-4FCA-B853-764F92F80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619" y="1201869"/>
            <a:ext cx="7722295" cy="2972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9716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2E26E3-CADD-42C0-9DE9-86218F417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500">
                <a:latin typeface="Arial Black"/>
              </a:rPr>
              <a:t>3. Conclusão</a:t>
            </a:r>
            <a:endParaRPr lang="pt-BR">
              <a:latin typeface="Arial Black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11200C-F27A-40C4-84FD-D3335F6D6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10141544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sz="2000">
                <a:latin typeface="Arial"/>
                <a:ea typeface="+mn-lt"/>
                <a:cs typeface="+mn-lt"/>
              </a:rPr>
              <a:t>O trabalho desenvolvido, servirá de base para futuros projetos que teremos nesse mercado de tecnologia, ao longo de nossas carreiras, estando mais atentos a partes importantes de um negócio, e compreendendo de uma maneira abrangente dados e informações essências, como Regras de Negócio, Requisitos, Modelo de Negócio e Planejamento Estratégico.</a:t>
            </a:r>
          </a:p>
          <a:p>
            <a:pPr marL="0" indent="0">
              <a:buNone/>
            </a:pPr>
            <a:endParaRPr lang="pt-BR" sz="2000">
              <a:latin typeface="Arial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821019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36BDB6-CBEB-4903-B91E-B6796A792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5500" dirty="0">
                <a:latin typeface="Arial Black"/>
              </a:rPr>
              <a:t>Dedicatória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6C3AE2-7191-4766-9B9A-F9A495F76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sz="2200" dirty="0">
                <a:latin typeface="Arial"/>
                <a:cs typeface="Arial"/>
              </a:rPr>
              <a:t>Dedicamos esse projeto ao coordenador do Trabalho, instrutor que orientou durante a produção desse Interdisciplinar, além de agradecermos o trabalho em e participação de cada um dos integrantes.</a:t>
            </a:r>
          </a:p>
        </p:txBody>
      </p:sp>
    </p:spTree>
    <p:extLst>
      <p:ext uri="{BB962C8B-B14F-4D97-AF65-F5344CB8AC3E}">
        <p14:creationId xmlns:p14="http://schemas.microsoft.com/office/powerpoint/2010/main" val="36184843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204356-17B2-47F3-BA95-D96586EC0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676" y="1711740"/>
            <a:ext cx="8596668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sz="2000" b="1" dirty="0">
                <a:latin typeface="Arial"/>
                <a:cs typeface="Arial"/>
              </a:rPr>
              <a:t>Nomes Integrantes:</a:t>
            </a:r>
          </a:p>
          <a:p>
            <a:pPr marL="0" indent="0">
              <a:buNone/>
            </a:pPr>
            <a:endParaRPr lang="pt-BR" sz="2000" b="1">
              <a:latin typeface="Arial"/>
              <a:ea typeface="+mn-lt"/>
              <a:cs typeface="Arial"/>
            </a:endParaRPr>
          </a:p>
          <a:p>
            <a:pPr algn="ctr">
              <a:buNone/>
            </a:pPr>
            <a:r>
              <a:rPr lang="pt-BR" sz="2000" b="1" dirty="0">
                <a:ea typeface="+mn-lt"/>
                <a:cs typeface="+mn-lt"/>
              </a:rPr>
              <a:t>Hugo André Lucena RGM: 2319762-5</a:t>
            </a:r>
          </a:p>
          <a:p>
            <a:pPr algn="ctr">
              <a:buNone/>
            </a:pPr>
            <a:r>
              <a:rPr lang="pt-BR" sz="2000" b="1" dirty="0">
                <a:ea typeface="+mn-lt"/>
                <a:cs typeface="+mn-lt"/>
              </a:rPr>
              <a:t>Lucas Santos Nascimento RGM: 2343534-8</a:t>
            </a:r>
          </a:p>
          <a:p>
            <a:pPr algn="ctr">
              <a:buNone/>
            </a:pPr>
            <a:r>
              <a:rPr lang="pt-BR" sz="2000" b="1" dirty="0">
                <a:ea typeface="+mn-lt"/>
                <a:cs typeface="+mn-lt"/>
              </a:rPr>
              <a:t>João Pedro Ferreira de Souza Batista RGM: 2316257-1</a:t>
            </a:r>
          </a:p>
          <a:p>
            <a:pPr algn="ctr">
              <a:buNone/>
            </a:pPr>
            <a:r>
              <a:rPr lang="pt-BR" sz="2000" b="1" dirty="0">
                <a:ea typeface="+mn-lt"/>
                <a:cs typeface="+mn-lt"/>
              </a:rPr>
              <a:t>Mateus Ferreira RGM: 2324613-8</a:t>
            </a:r>
          </a:p>
          <a:p>
            <a:pPr algn="ctr">
              <a:buNone/>
            </a:pPr>
            <a:r>
              <a:rPr lang="pt-BR" sz="2000" b="1" dirty="0">
                <a:ea typeface="+mn-lt"/>
                <a:cs typeface="+mn-lt"/>
              </a:rPr>
              <a:t>Matheus Ramos Pinto RGM: 2352127-9</a:t>
            </a:r>
          </a:p>
          <a:p>
            <a:pPr algn="ctr">
              <a:buNone/>
            </a:pPr>
            <a:r>
              <a:rPr lang="pt-BR" sz="2000" b="1" dirty="0">
                <a:ea typeface="+mn-lt"/>
                <a:cs typeface="+mn-lt"/>
              </a:rPr>
              <a:t>Willian Mendes de Santana RGM: 2316353-4</a:t>
            </a:r>
          </a:p>
          <a:p>
            <a:pPr marL="0" indent="0">
              <a:buNone/>
            </a:pPr>
            <a:endParaRPr lang="pt-BR" sz="1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9662389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TF00001241</Template>
  <Application>Microsoft Office PowerPoint</Application>
  <PresentationFormat>Widescreen</PresentationFormat>
  <Slides>32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33" baseType="lpstr">
      <vt:lpstr>Facet</vt:lpstr>
      <vt:lpstr>PROJETO INTERDISCIPLINAR - 1ª SEMESTRE - 2020</vt:lpstr>
      <vt:lpstr>1. Introdução</vt:lpstr>
      <vt:lpstr>2. Desenvolvimento</vt:lpstr>
      <vt:lpstr>2.2 Modelo de Negócios </vt:lpstr>
      <vt:lpstr>Apresentação do PowerPoint</vt:lpstr>
      <vt:lpstr>Apresentação do PowerPoint</vt:lpstr>
      <vt:lpstr>Apresentação do PowerPoint</vt:lpstr>
      <vt:lpstr>Apresentação do PowerPoint</vt:lpstr>
      <vt:lpstr>Detalhamento de Exemplo de Caso de Uso Expandido - Corrida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3. Conclusão</vt:lpstr>
      <vt:lpstr>Dedicatória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/>
  <cp:revision>425</cp:revision>
  <dcterms:created xsi:type="dcterms:W3CDTF">2020-05-07T00:00:51Z</dcterms:created>
  <dcterms:modified xsi:type="dcterms:W3CDTF">2020-05-22T11:16:51Z</dcterms:modified>
</cp:coreProperties>
</file>